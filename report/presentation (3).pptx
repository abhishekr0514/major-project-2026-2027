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1" d="100"/>
          <a:sy n="151" d="100"/>
        </p:scale>
        <p:origin x="1637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Group</a:t>
            </a:r>
            <a:r>
              <a:rPr spc="55" dirty="0"/>
              <a:t> </a:t>
            </a:r>
            <a:r>
              <a:rPr dirty="0"/>
              <a:t>50</a:t>
            </a:r>
            <a:r>
              <a:rPr spc="290" dirty="0"/>
              <a:t> </a:t>
            </a:r>
            <a:r>
              <a:rPr spc="45" dirty="0"/>
              <a:t>(JSSATEB)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May</a:t>
            </a:r>
            <a:r>
              <a:rPr spc="70" dirty="0"/>
              <a:t> </a:t>
            </a:r>
            <a:r>
              <a:rPr dirty="0"/>
              <a:t>8,</a:t>
            </a:r>
            <a:r>
              <a:rPr spc="75" dirty="0"/>
              <a:t> </a:t>
            </a:r>
            <a:r>
              <a:rPr spc="-20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dirty="0"/>
              <a:t>‹#›</a:t>
            </a:fld>
            <a:r>
              <a:rPr spc="-65" dirty="0"/>
              <a:t> </a:t>
            </a:r>
            <a:r>
              <a:rPr spc="90" dirty="0"/>
              <a:t>/</a:t>
            </a:r>
            <a:r>
              <a:rPr spc="-6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50668" y="327954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71051" y="327558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48853" y="327558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08882" y="3269233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45713" y="327558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09277" y="328193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20376" y="327558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596577" y="3269233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1227" y="3269233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795026" y="327558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1227" y="330733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5890" y="3269233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9971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73219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69233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0"/>
            <a:ext cx="4608195" cy="354330"/>
          </a:xfrm>
          <a:custGeom>
            <a:avLst/>
            <a:gdLst/>
            <a:ahLst/>
            <a:cxnLst/>
            <a:rect l="l" t="t" r="r" b="b"/>
            <a:pathLst>
              <a:path w="4608195" h="354330">
                <a:moveTo>
                  <a:pt x="4608004" y="0"/>
                </a:moveTo>
                <a:lnTo>
                  <a:pt x="0" y="0"/>
                </a:lnTo>
                <a:lnTo>
                  <a:pt x="0" y="354152"/>
                </a:lnTo>
                <a:lnTo>
                  <a:pt x="4608004" y="354152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Group</a:t>
            </a:r>
            <a:r>
              <a:rPr spc="55" dirty="0"/>
              <a:t> </a:t>
            </a:r>
            <a:r>
              <a:rPr dirty="0"/>
              <a:t>50</a:t>
            </a:r>
            <a:r>
              <a:rPr spc="290" dirty="0"/>
              <a:t> </a:t>
            </a:r>
            <a:r>
              <a:rPr spc="45" dirty="0"/>
              <a:t>(JSSATEB)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May</a:t>
            </a:r>
            <a:r>
              <a:rPr spc="70" dirty="0"/>
              <a:t> </a:t>
            </a:r>
            <a:r>
              <a:rPr dirty="0"/>
              <a:t>8,</a:t>
            </a:r>
            <a:r>
              <a:rPr spc="75" dirty="0"/>
              <a:t> </a:t>
            </a:r>
            <a:r>
              <a:rPr spc="-20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dirty="0"/>
              <a:t>‹#›</a:t>
            </a:fld>
            <a:r>
              <a:rPr spc="-65" dirty="0"/>
              <a:t> </a:t>
            </a:r>
            <a:r>
              <a:rPr spc="90" dirty="0"/>
              <a:t>/</a:t>
            </a:r>
            <a:r>
              <a:rPr spc="-6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Group</a:t>
            </a:r>
            <a:r>
              <a:rPr spc="55" dirty="0"/>
              <a:t> </a:t>
            </a:r>
            <a:r>
              <a:rPr dirty="0"/>
              <a:t>50</a:t>
            </a:r>
            <a:r>
              <a:rPr spc="290" dirty="0"/>
              <a:t> </a:t>
            </a:r>
            <a:r>
              <a:rPr spc="45" dirty="0"/>
              <a:t>(JSSATEB)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May</a:t>
            </a:r>
            <a:r>
              <a:rPr spc="70" dirty="0"/>
              <a:t> </a:t>
            </a:r>
            <a:r>
              <a:rPr dirty="0"/>
              <a:t>8,</a:t>
            </a:r>
            <a:r>
              <a:rPr spc="75" dirty="0"/>
              <a:t> </a:t>
            </a:r>
            <a:r>
              <a:rPr spc="-20" dirty="0"/>
              <a:t>2026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dirty="0"/>
              <a:t>‹#›</a:t>
            </a:fld>
            <a:r>
              <a:rPr spc="-65" dirty="0"/>
              <a:t> </a:t>
            </a:r>
            <a:r>
              <a:rPr spc="90" dirty="0"/>
              <a:t>/</a:t>
            </a:r>
            <a:r>
              <a:rPr spc="-6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50668" y="327954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71051" y="327558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48853" y="327558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08882" y="3269233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45713" y="327558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09277" y="328193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20376" y="327558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596577" y="3269233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1227" y="3269233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795026" y="327558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1227" y="330733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5890" y="3269233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9971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73219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69233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3364318"/>
            <a:ext cx="1536065" cy="92075"/>
          </a:xfrm>
          <a:custGeom>
            <a:avLst/>
            <a:gdLst/>
            <a:ahLst/>
            <a:cxnLst/>
            <a:rect l="l" t="t" r="r" b="b"/>
            <a:pathLst>
              <a:path w="1536065" h="92075">
                <a:moveTo>
                  <a:pt x="1535976" y="0"/>
                </a:moveTo>
                <a:lnTo>
                  <a:pt x="0" y="0"/>
                </a:lnTo>
                <a:lnTo>
                  <a:pt x="0" y="91681"/>
                </a:lnTo>
                <a:lnTo>
                  <a:pt x="1535976" y="91681"/>
                </a:lnTo>
                <a:lnTo>
                  <a:pt x="1535976" y="0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535976" y="3364318"/>
            <a:ext cx="1536065" cy="92075"/>
          </a:xfrm>
          <a:custGeom>
            <a:avLst/>
            <a:gdLst/>
            <a:ahLst/>
            <a:cxnLst/>
            <a:rect l="l" t="t" r="r" b="b"/>
            <a:pathLst>
              <a:path w="1536064" h="92075">
                <a:moveTo>
                  <a:pt x="1535976" y="0"/>
                </a:moveTo>
                <a:lnTo>
                  <a:pt x="0" y="0"/>
                </a:lnTo>
                <a:lnTo>
                  <a:pt x="0" y="91681"/>
                </a:lnTo>
                <a:lnTo>
                  <a:pt x="1535976" y="91681"/>
                </a:lnTo>
                <a:lnTo>
                  <a:pt x="1535976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3071952" y="3364318"/>
            <a:ext cx="1536065" cy="92075"/>
          </a:xfrm>
          <a:custGeom>
            <a:avLst/>
            <a:gdLst/>
            <a:ahLst/>
            <a:cxnLst/>
            <a:rect l="l" t="t" r="r" b="b"/>
            <a:pathLst>
              <a:path w="1536064" h="92075">
                <a:moveTo>
                  <a:pt x="1535976" y="0"/>
                </a:moveTo>
                <a:lnTo>
                  <a:pt x="0" y="0"/>
                </a:lnTo>
                <a:lnTo>
                  <a:pt x="0" y="91681"/>
                </a:lnTo>
                <a:lnTo>
                  <a:pt x="1535976" y="91681"/>
                </a:lnTo>
                <a:lnTo>
                  <a:pt x="153597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Group</a:t>
            </a:r>
            <a:r>
              <a:rPr spc="55" dirty="0"/>
              <a:t> </a:t>
            </a:r>
            <a:r>
              <a:rPr dirty="0"/>
              <a:t>50</a:t>
            </a:r>
            <a:r>
              <a:rPr spc="290" dirty="0"/>
              <a:t> </a:t>
            </a:r>
            <a:r>
              <a:rPr spc="45" dirty="0"/>
              <a:t>(JSSATEB)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May</a:t>
            </a:r>
            <a:r>
              <a:rPr spc="70" dirty="0"/>
              <a:t> </a:t>
            </a:r>
            <a:r>
              <a:rPr dirty="0"/>
              <a:t>8,</a:t>
            </a:r>
            <a:r>
              <a:rPr spc="75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dirty="0"/>
              <a:t>‹#›</a:t>
            </a:fld>
            <a:r>
              <a:rPr spc="-65" dirty="0"/>
              <a:t> </a:t>
            </a:r>
            <a:r>
              <a:rPr spc="90" dirty="0"/>
              <a:t>/</a:t>
            </a:r>
            <a:r>
              <a:rPr spc="-6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Group</a:t>
            </a:r>
            <a:r>
              <a:rPr spc="55" dirty="0"/>
              <a:t> </a:t>
            </a:r>
            <a:r>
              <a:rPr dirty="0"/>
              <a:t>50</a:t>
            </a:r>
            <a:r>
              <a:rPr spc="290" dirty="0"/>
              <a:t> </a:t>
            </a:r>
            <a:r>
              <a:rPr spc="45" dirty="0"/>
              <a:t>(JSSATEB)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May</a:t>
            </a:r>
            <a:r>
              <a:rPr spc="70" dirty="0"/>
              <a:t> </a:t>
            </a:r>
            <a:r>
              <a:rPr dirty="0"/>
              <a:t>8,</a:t>
            </a:r>
            <a:r>
              <a:rPr spc="75" dirty="0"/>
              <a:t> </a:t>
            </a:r>
            <a:r>
              <a:rPr spc="-20" dirty="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dirty="0"/>
              <a:t>‹#›</a:t>
            </a:fld>
            <a:r>
              <a:rPr spc="-65" dirty="0"/>
              <a:t> </a:t>
            </a:r>
            <a:r>
              <a:rPr spc="90" dirty="0"/>
              <a:t>/</a:t>
            </a:r>
            <a:r>
              <a:rPr spc="-6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50668" y="327954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71051" y="327558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48853" y="327558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08882" y="3269233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45713" y="327558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09277" y="328193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20376" y="327558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596577" y="3269233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1227" y="3269233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795026" y="327558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1227" y="330733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5890" y="3269233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9971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73219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69233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61884"/>
            <a:ext cx="1967864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3830" y="909085"/>
            <a:ext cx="4382439" cy="1581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8757" y="3352906"/>
            <a:ext cx="798830" cy="111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Group</a:t>
            </a:r>
            <a:r>
              <a:rPr spc="55" dirty="0"/>
              <a:t> </a:t>
            </a:r>
            <a:r>
              <a:rPr dirty="0"/>
              <a:t>50</a:t>
            </a:r>
            <a:r>
              <a:rPr spc="290" dirty="0"/>
              <a:t> </a:t>
            </a:r>
            <a:r>
              <a:rPr spc="45" dirty="0"/>
              <a:t>(JSSATEB)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501593" y="3352906"/>
            <a:ext cx="447039" cy="111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May</a:t>
            </a:r>
            <a:r>
              <a:rPr spc="70" dirty="0"/>
              <a:t> </a:t>
            </a:r>
            <a:r>
              <a:rPr dirty="0"/>
              <a:t>8,</a:t>
            </a:r>
            <a:r>
              <a:rPr spc="75" dirty="0"/>
              <a:t> </a:t>
            </a:r>
            <a:r>
              <a:rPr spc="-20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09145" y="3352906"/>
            <a:ext cx="255270" cy="111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dirty="0"/>
              <a:t>‹#›</a:t>
            </a:fld>
            <a:r>
              <a:rPr spc="-65" dirty="0"/>
              <a:t> </a:t>
            </a:r>
            <a:r>
              <a:rPr spc="90" dirty="0"/>
              <a:t>/</a:t>
            </a:r>
            <a:r>
              <a:rPr spc="-65" dirty="0"/>
              <a:t> </a:t>
            </a:r>
            <a:r>
              <a:rPr spc="-25" dirty="0"/>
              <a:t>11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slide" Target="slide1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slide" Target="slide11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slide" Target="slide11.xml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slide" Target="slide11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5729" y="360324"/>
            <a:ext cx="4507865" cy="952500"/>
            <a:chOff x="75729" y="360324"/>
            <a:chExt cx="4507865" cy="952500"/>
          </a:xfrm>
        </p:grpSpPr>
        <p:sp>
          <p:nvSpPr>
            <p:cNvPr id="3" name="object 3"/>
            <p:cNvSpPr/>
            <p:nvPr/>
          </p:nvSpPr>
          <p:spPr>
            <a:xfrm>
              <a:off x="75729" y="360324"/>
              <a:ext cx="4457065" cy="82550"/>
            </a:xfrm>
            <a:custGeom>
              <a:avLst/>
              <a:gdLst/>
              <a:ahLst/>
              <a:cxnLst/>
              <a:rect l="l" t="t" r="r" b="b"/>
              <a:pathLst>
                <a:path w="4457065" h="82550">
                  <a:moveTo>
                    <a:pt x="440580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56606" y="82384"/>
                  </a:lnTo>
                  <a:lnTo>
                    <a:pt x="4456606" y="50800"/>
                  </a:lnTo>
                  <a:lnTo>
                    <a:pt x="4452598" y="31075"/>
                  </a:lnTo>
                  <a:lnTo>
                    <a:pt x="4441684" y="14922"/>
                  </a:lnTo>
                  <a:lnTo>
                    <a:pt x="4425531" y="4008"/>
                  </a:lnTo>
                  <a:lnTo>
                    <a:pt x="440580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6530" y="423575"/>
              <a:ext cx="4457065" cy="889000"/>
            </a:xfrm>
            <a:custGeom>
              <a:avLst/>
              <a:gdLst/>
              <a:ahLst/>
              <a:cxnLst/>
              <a:rect l="l" t="t" r="r" b="b"/>
              <a:pathLst>
                <a:path w="4457065" h="889000">
                  <a:moveTo>
                    <a:pt x="4456607" y="0"/>
                  </a:moveTo>
                  <a:lnTo>
                    <a:pt x="0" y="0"/>
                  </a:lnTo>
                  <a:lnTo>
                    <a:pt x="0" y="888640"/>
                  </a:lnTo>
                  <a:lnTo>
                    <a:pt x="4456607" y="888640"/>
                  </a:lnTo>
                  <a:lnTo>
                    <a:pt x="44566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729" y="404738"/>
              <a:ext cx="4457065" cy="857250"/>
            </a:xfrm>
            <a:custGeom>
              <a:avLst/>
              <a:gdLst/>
              <a:ahLst/>
              <a:cxnLst/>
              <a:rect l="l" t="t" r="r" b="b"/>
              <a:pathLst>
                <a:path w="4457065" h="857250">
                  <a:moveTo>
                    <a:pt x="4456606" y="0"/>
                  </a:moveTo>
                  <a:lnTo>
                    <a:pt x="0" y="0"/>
                  </a:lnTo>
                  <a:lnTo>
                    <a:pt x="0" y="805875"/>
                  </a:lnTo>
                  <a:lnTo>
                    <a:pt x="4008" y="825600"/>
                  </a:lnTo>
                  <a:lnTo>
                    <a:pt x="14922" y="841753"/>
                  </a:lnTo>
                  <a:lnTo>
                    <a:pt x="31075" y="852667"/>
                  </a:lnTo>
                  <a:lnTo>
                    <a:pt x="50800" y="856676"/>
                  </a:lnTo>
                  <a:lnTo>
                    <a:pt x="4405806" y="856676"/>
                  </a:lnTo>
                  <a:lnTo>
                    <a:pt x="4425531" y="852667"/>
                  </a:lnTo>
                  <a:lnTo>
                    <a:pt x="4441684" y="841753"/>
                  </a:lnTo>
                  <a:lnTo>
                    <a:pt x="4452598" y="825600"/>
                  </a:lnTo>
                  <a:lnTo>
                    <a:pt x="4456606" y="805875"/>
                  </a:lnTo>
                  <a:lnTo>
                    <a:pt x="445660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6530" y="423575"/>
            <a:ext cx="4457065" cy="88900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233679" marR="328295" algn="ctr">
              <a:lnSpc>
                <a:spcPct val="106700"/>
              </a:lnSpc>
              <a:spcBef>
                <a:spcPts val="355"/>
              </a:spcBef>
            </a:pPr>
            <a:r>
              <a:rPr sz="1400" spc="-50" dirty="0">
                <a:solidFill>
                  <a:srgbClr val="FFFFFF"/>
                </a:solidFill>
                <a:latin typeface="Arial MT"/>
                <a:cs typeface="Arial MT"/>
              </a:rPr>
              <a:t>Privacy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90" dirty="0">
                <a:solidFill>
                  <a:srgbClr val="FFFFFF"/>
                </a:solidFill>
                <a:latin typeface="Arial MT"/>
                <a:cs typeface="Arial MT"/>
              </a:rPr>
              <a:t>Masked</a:t>
            </a:r>
            <a:r>
              <a:rPr sz="1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90" dirty="0">
                <a:solidFill>
                  <a:srgbClr val="FFFFFF"/>
                </a:solidFill>
                <a:latin typeface="Arial MT"/>
                <a:cs typeface="Arial MT"/>
              </a:rPr>
              <a:t>Federated</a:t>
            </a:r>
            <a:r>
              <a:rPr sz="1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70" dirty="0">
                <a:solidFill>
                  <a:srgbClr val="FFFFFF"/>
                </a:solidFill>
                <a:latin typeface="Arial MT"/>
                <a:cs typeface="Arial MT"/>
              </a:rPr>
              <a:t>Learning</a:t>
            </a:r>
            <a:r>
              <a:rPr sz="1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1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30" dirty="0">
                <a:solidFill>
                  <a:srgbClr val="FFFFFF"/>
                </a:solidFill>
                <a:latin typeface="Arial MT"/>
                <a:cs typeface="Arial MT"/>
              </a:rPr>
              <a:t>Heart</a:t>
            </a:r>
            <a:r>
              <a:rPr sz="14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0" dirty="0">
                <a:solidFill>
                  <a:srgbClr val="FFFFFF"/>
                </a:solidFill>
                <a:latin typeface="Arial MT"/>
                <a:cs typeface="Arial MT"/>
              </a:rPr>
              <a:t>Disease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Diagnosis</a:t>
            </a:r>
            <a:endParaRPr sz="1400" dirty="0">
              <a:latin typeface="Arial MT"/>
              <a:cs typeface="Arial MT"/>
            </a:endParaRPr>
          </a:p>
          <a:p>
            <a:pPr marR="93980" algn="ctr">
              <a:lnSpc>
                <a:spcPct val="100000"/>
              </a:lnSpc>
              <a:spcBef>
                <a:spcPts val="260"/>
              </a:spcBef>
            </a:pP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Major</a:t>
            </a:r>
            <a:r>
              <a:rPr sz="1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Arial MT"/>
                <a:cs typeface="Arial MT"/>
              </a:rPr>
              <a:t>Project</a:t>
            </a:r>
            <a:r>
              <a:rPr sz="1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70" dirty="0">
                <a:solidFill>
                  <a:srgbClr val="FFFFFF"/>
                </a:solidFill>
                <a:latin typeface="Arial MT"/>
                <a:cs typeface="Arial MT"/>
              </a:rPr>
              <a:t>Phase</a:t>
            </a:r>
            <a:r>
              <a:rPr sz="1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1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I</a:t>
            </a:r>
            <a:r>
              <a:rPr sz="1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Arial MT"/>
                <a:cs typeface="Arial MT"/>
              </a:rPr>
              <a:t>(Group</a:t>
            </a:r>
            <a:r>
              <a:rPr sz="10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FFFFFF"/>
                </a:solidFill>
                <a:latin typeface="Arial MT"/>
                <a:cs typeface="Arial MT"/>
              </a:rPr>
              <a:t>ID:</a:t>
            </a:r>
            <a:r>
              <a:rPr sz="10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Arial MT"/>
                <a:cs typeface="Arial MT"/>
              </a:rPr>
              <a:t>50)</a:t>
            </a:r>
            <a:endParaRPr sz="10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1668" y="1469687"/>
            <a:ext cx="2085339" cy="1464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0" marR="12065" indent="41910" algn="ctr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Arial MT"/>
                <a:cs typeface="Arial MT"/>
              </a:rPr>
              <a:t>ABHISHEK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(1JS23CS004) </a:t>
            </a:r>
            <a:r>
              <a:rPr sz="1000" spc="-30" dirty="0">
                <a:latin typeface="Arial MT"/>
                <a:cs typeface="Arial MT"/>
              </a:rPr>
              <a:t>CHETAN</a:t>
            </a:r>
            <a:r>
              <a:rPr sz="1000" spc="-4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KISHOR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G</a:t>
            </a:r>
            <a:r>
              <a:rPr sz="1000" spc="-35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(1JS23CS032) </a:t>
            </a:r>
            <a:r>
              <a:rPr sz="1000" spc="-35" dirty="0">
                <a:latin typeface="Arial MT"/>
                <a:cs typeface="Arial MT"/>
              </a:rPr>
              <a:t>HONGIRAN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(1JS23CS062) </a:t>
            </a:r>
            <a:r>
              <a:rPr sz="1000" spc="-20" dirty="0">
                <a:latin typeface="Arial MT"/>
                <a:cs typeface="Arial MT"/>
              </a:rPr>
              <a:t>THIRUMANGAI</a:t>
            </a:r>
            <a:r>
              <a:rPr sz="1000" spc="-3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(1JS23CS180)</a:t>
            </a:r>
            <a:endParaRPr sz="1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000">
              <a:latin typeface="Arial MT"/>
              <a:cs typeface="Arial MT"/>
            </a:endParaRPr>
          </a:p>
          <a:p>
            <a:pPr marL="12700" marR="5080" indent="494665">
              <a:lnSpc>
                <a:spcPts val="800"/>
              </a:lnSpc>
            </a:pPr>
            <a:r>
              <a:rPr sz="700" dirty="0">
                <a:latin typeface="Arial MT"/>
                <a:cs typeface="Arial MT"/>
              </a:rPr>
              <a:t>Guide:</a:t>
            </a:r>
            <a:r>
              <a:rPr sz="700" spc="14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Dr.</a:t>
            </a:r>
            <a:r>
              <a:rPr sz="700" spc="15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Rajeshwari</a:t>
            </a:r>
            <a:r>
              <a:rPr sz="700" spc="60" dirty="0">
                <a:latin typeface="Arial MT"/>
                <a:cs typeface="Arial MT"/>
              </a:rPr>
              <a:t> </a:t>
            </a:r>
            <a:r>
              <a:rPr sz="700" spc="65" dirty="0">
                <a:latin typeface="Arial MT"/>
                <a:cs typeface="Arial MT"/>
              </a:rPr>
              <a:t>K</a:t>
            </a:r>
            <a:r>
              <a:rPr sz="700" spc="60" dirty="0">
                <a:latin typeface="Arial MT"/>
                <a:cs typeface="Arial MT"/>
              </a:rPr>
              <a:t> </a:t>
            </a:r>
            <a:r>
              <a:rPr sz="700" spc="-50" dirty="0">
                <a:latin typeface="Arial MT"/>
                <a:cs typeface="Arial MT"/>
              </a:rPr>
              <a:t>S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Department</a:t>
            </a:r>
            <a:r>
              <a:rPr sz="700" spc="9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of</a:t>
            </a:r>
            <a:r>
              <a:rPr sz="700" spc="10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Computer</a:t>
            </a:r>
            <a:r>
              <a:rPr sz="700" spc="10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Science</a:t>
            </a:r>
            <a:r>
              <a:rPr sz="700" spc="10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and</a:t>
            </a:r>
            <a:r>
              <a:rPr sz="700" spc="10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Engineering</a:t>
            </a:r>
            <a:r>
              <a:rPr sz="700" spc="50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JSS</a:t>
            </a:r>
            <a:r>
              <a:rPr sz="700" spc="6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Academy</a:t>
            </a:r>
            <a:r>
              <a:rPr sz="700" spc="6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of</a:t>
            </a:r>
            <a:r>
              <a:rPr sz="700" spc="65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Technical</a:t>
            </a:r>
            <a:r>
              <a:rPr sz="700" spc="70" dirty="0">
                <a:latin typeface="Arial MT"/>
                <a:cs typeface="Arial MT"/>
              </a:rPr>
              <a:t> </a:t>
            </a:r>
            <a:r>
              <a:rPr sz="700" dirty="0">
                <a:latin typeface="Arial MT"/>
                <a:cs typeface="Arial MT"/>
              </a:rPr>
              <a:t>Education,</a:t>
            </a:r>
            <a:r>
              <a:rPr sz="700" spc="6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Bengaluru</a:t>
            </a:r>
            <a:endParaRPr sz="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7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sz="1000" spc="-10" dirty="0">
                <a:latin typeface="Arial MT"/>
                <a:cs typeface="Arial MT"/>
              </a:rPr>
              <a:t>May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8,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2026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64319"/>
            <a:ext cx="4608195" cy="92075"/>
            <a:chOff x="0" y="3364319"/>
            <a:chExt cx="4608195" cy="92075"/>
          </a:xfrm>
        </p:grpSpPr>
        <p:sp>
          <p:nvSpPr>
            <p:cNvPr id="9" name="object 9"/>
            <p:cNvSpPr/>
            <p:nvPr/>
          </p:nvSpPr>
          <p:spPr>
            <a:xfrm>
              <a:off x="0" y="3364319"/>
              <a:ext cx="1536065" cy="92075"/>
            </a:xfrm>
            <a:custGeom>
              <a:avLst/>
              <a:gdLst/>
              <a:ahLst/>
              <a:cxnLst/>
              <a:rect l="l" t="t" r="r" b="b"/>
              <a:pathLst>
                <a:path w="1536065" h="92075">
                  <a:moveTo>
                    <a:pt x="1535976" y="0"/>
                  </a:moveTo>
                  <a:lnTo>
                    <a:pt x="0" y="0"/>
                  </a:lnTo>
                  <a:lnTo>
                    <a:pt x="0" y="91681"/>
                  </a:lnTo>
                  <a:lnTo>
                    <a:pt x="1535976" y="9168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64319"/>
              <a:ext cx="1536065" cy="92075"/>
            </a:xfrm>
            <a:custGeom>
              <a:avLst/>
              <a:gdLst/>
              <a:ahLst/>
              <a:cxnLst/>
              <a:rect l="l" t="t" r="r" b="b"/>
              <a:pathLst>
                <a:path w="1536064" h="92075">
                  <a:moveTo>
                    <a:pt x="1535976" y="0"/>
                  </a:moveTo>
                  <a:lnTo>
                    <a:pt x="0" y="0"/>
                  </a:lnTo>
                  <a:lnTo>
                    <a:pt x="0" y="91681"/>
                  </a:lnTo>
                  <a:lnTo>
                    <a:pt x="1535976" y="9168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64319"/>
              <a:ext cx="1536065" cy="92075"/>
            </a:xfrm>
            <a:custGeom>
              <a:avLst/>
              <a:gdLst/>
              <a:ahLst/>
              <a:cxnLst/>
              <a:rect l="l" t="t" r="r" b="b"/>
              <a:pathLst>
                <a:path w="1536064" h="92075">
                  <a:moveTo>
                    <a:pt x="1535976" y="0"/>
                  </a:moveTo>
                  <a:lnTo>
                    <a:pt x="0" y="0"/>
                  </a:lnTo>
                  <a:lnTo>
                    <a:pt x="0" y="91681"/>
                  </a:lnTo>
                  <a:lnTo>
                    <a:pt x="1535976" y="9168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Group</a:t>
            </a:r>
            <a:r>
              <a:rPr spc="55" dirty="0"/>
              <a:t> </a:t>
            </a:r>
            <a:r>
              <a:rPr dirty="0"/>
              <a:t>50</a:t>
            </a:r>
            <a:r>
              <a:rPr spc="290" dirty="0"/>
              <a:t> </a:t>
            </a:r>
            <a:r>
              <a:rPr spc="45" dirty="0"/>
              <a:t>(JSSATEB)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964435" y="3352906"/>
            <a:ext cx="679450" cy="111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00" dirty="0">
                <a:solidFill>
                  <a:srgbClr val="FFFFFF"/>
                </a:solidFill>
                <a:latin typeface="Verdana"/>
                <a:cs typeface="Verdana"/>
                <a:hlinkClick r:id="rId2" action="ppaction://hlinksldjump"/>
              </a:rPr>
              <a:t>Privacy</a:t>
            </a:r>
            <a:r>
              <a:rPr sz="500" spc="125" dirty="0">
                <a:solidFill>
                  <a:srgbClr val="FFFFFF"/>
                </a:solidFill>
                <a:latin typeface="Verdana"/>
                <a:cs typeface="Verdana"/>
                <a:hlinkClick r:id="rId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Verdana"/>
                <a:cs typeface="Verdana"/>
                <a:hlinkClick r:id="rId2" action="ppaction://hlinksldjump"/>
              </a:rPr>
              <a:t>Masked</a:t>
            </a:r>
            <a:r>
              <a:rPr sz="500" spc="125" dirty="0">
                <a:solidFill>
                  <a:srgbClr val="FFFFFF"/>
                </a:solidFill>
                <a:latin typeface="Verdana"/>
                <a:cs typeface="Verdana"/>
                <a:hlinkClick r:id="rId2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Verdana"/>
                <a:cs typeface="Verdana"/>
                <a:hlinkClick r:id="rId2" action="ppaction://hlinksldjump"/>
              </a:rPr>
              <a:t>FL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May</a:t>
            </a:r>
            <a:r>
              <a:rPr spc="70" dirty="0"/>
              <a:t> </a:t>
            </a:r>
            <a:r>
              <a:rPr dirty="0"/>
              <a:t>8,</a:t>
            </a:r>
            <a:r>
              <a:rPr spc="75" dirty="0"/>
              <a:t> </a:t>
            </a:r>
            <a:r>
              <a:rPr spc="-20" dirty="0"/>
              <a:t>2026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dirty="0"/>
              <a:t>1</a:t>
            </a:fld>
            <a:r>
              <a:rPr spc="-65" dirty="0"/>
              <a:t> </a:t>
            </a:r>
            <a:r>
              <a:rPr spc="90" dirty="0"/>
              <a:t>/</a:t>
            </a:r>
            <a:r>
              <a:rPr spc="-65" dirty="0"/>
              <a:t> </a:t>
            </a:r>
            <a:r>
              <a:rPr spc="-25" dirty="0"/>
              <a:t>11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80A7044-D08E-674D-589E-FBC639BBDAE2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" y="718502"/>
            <a:ext cx="533400" cy="543486"/>
          </a:xfrm>
          <a:prstGeom prst="rect">
            <a:avLst/>
          </a:prstGeom>
          <a:noFill/>
        </p:spPr>
      </p:pic>
      <p:pic>
        <p:nvPicPr>
          <p:cNvPr id="17" name="Picture 16" descr="STEP-JSSATEB">
            <a:extLst>
              <a:ext uri="{FF2B5EF4-FFF2-40B4-BE49-F238E27FC236}">
                <a16:creationId xmlns:a16="http://schemas.microsoft.com/office/drawing/2014/main" id="{32389F26-EEAC-7583-51E9-016F7698D8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9870" y="718502"/>
            <a:ext cx="554019" cy="5434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Problem</a:t>
            </a:r>
            <a:r>
              <a:rPr spc="20" dirty="0"/>
              <a:t> </a:t>
            </a:r>
            <a:r>
              <a:rPr spc="-75" dirty="0"/>
              <a:t>Overview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17" y="1110195"/>
            <a:ext cx="59588" cy="5958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6066" rIns="0" bIns="0" rtlCol="0">
            <a:spAutoFit/>
          </a:bodyPr>
          <a:lstStyle/>
          <a:p>
            <a:pPr marL="265430" marR="27940">
              <a:lnSpc>
                <a:spcPct val="100000"/>
              </a:lnSpc>
              <a:spcBef>
                <a:spcPts val="95"/>
              </a:spcBef>
            </a:pPr>
            <a:r>
              <a:rPr b="1" spc="-20" dirty="0">
                <a:latin typeface="Arial"/>
                <a:cs typeface="Arial"/>
              </a:rPr>
              <a:t>Centralized</a:t>
            </a:r>
            <a:r>
              <a:rPr b="1" spc="5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Data</a:t>
            </a:r>
            <a:r>
              <a:rPr b="1" spc="45" dirty="0">
                <a:latin typeface="Arial"/>
                <a:cs typeface="Arial"/>
              </a:rPr>
              <a:t> </a:t>
            </a:r>
            <a:r>
              <a:rPr b="1" spc="-45" dirty="0">
                <a:latin typeface="Arial"/>
                <a:cs typeface="Arial"/>
              </a:rPr>
              <a:t>Risks</a:t>
            </a:r>
            <a:r>
              <a:rPr spc="-45" dirty="0"/>
              <a:t>:</a:t>
            </a:r>
            <a:r>
              <a:rPr spc="120" dirty="0"/>
              <a:t> </a:t>
            </a:r>
            <a:r>
              <a:rPr spc="-20" dirty="0"/>
              <a:t>Traditional</a:t>
            </a:r>
            <a:r>
              <a:rPr spc="20" dirty="0"/>
              <a:t> </a:t>
            </a:r>
            <a:r>
              <a:rPr dirty="0"/>
              <a:t>AI</a:t>
            </a:r>
            <a:r>
              <a:rPr spc="15" dirty="0"/>
              <a:t> </a:t>
            </a:r>
            <a:r>
              <a:rPr spc="-55" dirty="0"/>
              <a:t>models</a:t>
            </a:r>
            <a:r>
              <a:rPr spc="20" dirty="0"/>
              <a:t> </a:t>
            </a:r>
            <a:r>
              <a:rPr spc="-35" dirty="0"/>
              <a:t>store</a:t>
            </a:r>
            <a:r>
              <a:rPr spc="20" dirty="0"/>
              <a:t> </a:t>
            </a:r>
            <a:r>
              <a:rPr spc="-45" dirty="0"/>
              <a:t>sensitive</a:t>
            </a:r>
            <a:r>
              <a:rPr spc="15" dirty="0"/>
              <a:t> </a:t>
            </a:r>
            <a:r>
              <a:rPr dirty="0"/>
              <a:t>patient</a:t>
            </a:r>
            <a:r>
              <a:rPr spc="20" dirty="0"/>
              <a:t> </a:t>
            </a:r>
            <a:r>
              <a:rPr spc="-20" dirty="0"/>
              <a:t>data </a:t>
            </a:r>
            <a:r>
              <a:rPr spc="-35" dirty="0"/>
              <a:t>(ECG,</a:t>
            </a:r>
            <a:r>
              <a:rPr spc="-15" dirty="0"/>
              <a:t> </a:t>
            </a:r>
            <a:r>
              <a:rPr spc="-10" dirty="0"/>
              <a:t>lab </a:t>
            </a:r>
            <a:r>
              <a:rPr spc="-20" dirty="0"/>
              <a:t>reports)</a:t>
            </a:r>
            <a:r>
              <a:rPr spc="-10" dirty="0"/>
              <a:t> </a:t>
            </a:r>
            <a:r>
              <a:rPr dirty="0"/>
              <a:t>on</a:t>
            </a:r>
            <a:r>
              <a:rPr spc="-10" dirty="0"/>
              <a:t> </a:t>
            </a:r>
            <a:r>
              <a:rPr spc="-20" dirty="0"/>
              <a:t>central</a:t>
            </a:r>
            <a:r>
              <a:rPr spc="-10" dirty="0"/>
              <a:t> </a:t>
            </a:r>
            <a:r>
              <a:rPr spc="-60" dirty="0"/>
              <a:t>servers,</a:t>
            </a:r>
            <a:r>
              <a:rPr spc="-10" dirty="0"/>
              <a:t> </a:t>
            </a:r>
            <a:r>
              <a:rPr spc="-35" dirty="0"/>
              <a:t>leading</a:t>
            </a:r>
            <a:r>
              <a:rPr spc="-10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spc="-30" dirty="0"/>
              <a:t>privacy</a:t>
            </a:r>
            <a:r>
              <a:rPr spc="-10" dirty="0"/>
              <a:t> vulnerabilities.</a:t>
            </a:r>
          </a:p>
          <a:p>
            <a:pPr marL="265430" marR="5080">
              <a:lnSpc>
                <a:spcPct val="100000"/>
              </a:lnSpc>
              <a:spcBef>
                <a:spcPts val="290"/>
              </a:spcBef>
            </a:pPr>
            <a:r>
              <a:rPr b="1" dirty="0">
                <a:latin typeface="Arial"/>
                <a:cs typeface="Arial"/>
              </a:rPr>
              <a:t>Data</a:t>
            </a:r>
            <a:r>
              <a:rPr b="1" spc="45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Leakage</a:t>
            </a:r>
            <a:r>
              <a:rPr spc="-25" dirty="0"/>
              <a:t>:</a:t>
            </a:r>
            <a:r>
              <a:rPr spc="110" dirty="0"/>
              <a:t> </a:t>
            </a:r>
            <a:r>
              <a:rPr spc="-30" dirty="0"/>
              <a:t>Accidental</a:t>
            </a:r>
            <a:r>
              <a:rPr spc="15" dirty="0"/>
              <a:t> </a:t>
            </a:r>
            <a:r>
              <a:rPr spc="-55" dirty="0"/>
              <a:t>exposure</a:t>
            </a:r>
            <a:r>
              <a:rPr spc="15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spc="-25" dirty="0"/>
              <a:t>confidential</a:t>
            </a:r>
            <a:r>
              <a:rPr spc="15" dirty="0"/>
              <a:t> </a:t>
            </a:r>
            <a:r>
              <a:rPr spc="-40" dirty="0"/>
              <a:t>medical</a:t>
            </a:r>
            <a:r>
              <a:rPr spc="15" dirty="0"/>
              <a:t> </a:t>
            </a:r>
            <a:r>
              <a:rPr spc="-55" dirty="0"/>
              <a:t>records</a:t>
            </a:r>
            <a:r>
              <a:rPr spc="15" dirty="0"/>
              <a:t> </a:t>
            </a:r>
            <a:r>
              <a:rPr spc="-10" dirty="0"/>
              <a:t>through </a:t>
            </a:r>
            <a:r>
              <a:rPr spc="-45" dirty="0"/>
              <a:t>generative</a:t>
            </a:r>
            <a:r>
              <a:rPr spc="5" dirty="0"/>
              <a:t> </a:t>
            </a:r>
            <a:r>
              <a:rPr dirty="0"/>
              <a:t>AI</a:t>
            </a:r>
            <a:r>
              <a:rPr spc="5" dirty="0"/>
              <a:t> </a:t>
            </a:r>
            <a:r>
              <a:rPr spc="-20" dirty="0"/>
              <a:t>and</a:t>
            </a:r>
            <a:r>
              <a:rPr spc="5" dirty="0"/>
              <a:t> </a:t>
            </a:r>
            <a:r>
              <a:rPr spc="-25" dirty="0"/>
              <a:t>online</a:t>
            </a:r>
            <a:r>
              <a:rPr spc="10" dirty="0"/>
              <a:t> </a:t>
            </a:r>
            <a:r>
              <a:rPr spc="-10" dirty="0"/>
              <a:t>tools.</a:t>
            </a:r>
          </a:p>
          <a:p>
            <a:pPr marL="265430" marR="179705">
              <a:lnSpc>
                <a:spcPct val="100000"/>
              </a:lnSpc>
              <a:spcBef>
                <a:spcPts val="290"/>
              </a:spcBef>
            </a:pPr>
            <a:r>
              <a:rPr b="1" spc="-30" dirty="0">
                <a:latin typeface="Arial"/>
                <a:cs typeface="Arial"/>
              </a:rPr>
              <a:t>Black-</a:t>
            </a:r>
            <a:r>
              <a:rPr b="1" spc="-20" dirty="0">
                <a:latin typeface="Arial"/>
                <a:cs typeface="Arial"/>
              </a:rPr>
              <a:t>box</a:t>
            </a:r>
            <a:r>
              <a:rPr b="1" spc="2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Models</a:t>
            </a:r>
            <a:r>
              <a:rPr spc="-10" dirty="0"/>
              <a:t>:</a:t>
            </a:r>
            <a:r>
              <a:rPr spc="85" dirty="0"/>
              <a:t> </a:t>
            </a:r>
            <a:r>
              <a:rPr spc="-25" dirty="0"/>
              <a:t>Lack</a:t>
            </a:r>
            <a:r>
              <a:rPr spc="-5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spc="-45" dirty="0"/>
              <a:t>transparency</a:t>
            </a:r>
            <a:r>
              <a:rPr spc="-5" dirty="0"/>
              <a:t> </a:t>
            </a:r>
            <a:r>
              <a:rPr spc="-20" dirty="0"/>
              <a:t>and</a:t>
            </a:r>
            <a:r>
              <a:rPr spc="-5" dirty="0"/>
              <a:t> </a:t>
            </a:r>
            <a:r>
              <a:rPr spc="-30" dirty="0"/>
              <a:t>actionable</a:t>
            </a:r>
            <a:r>
              <a:rPr spc="-5" dirty="0"/>
              <a:t> </a:t>
            </a:r>
            <a:r>
              <a:rPr spc="-40" dirty="0"/>
              <a:t>explanations</a:t>
            </a:r>
            <a:r>
              <a:rPr spc="-5" dirty="0"/>
              <a:t> </a:t>
            </a:r>
            <a:r>
              <a:rPr spc="-25" dirty="0"/>
              <a:t>in </a:t>
            </a:r>
            <a:r>
              <a:rPr spc="-10" dirty="0"/>
              <a:t>current</a:t>
            </a:r>
            <a:r>
              <a:rPr spc="-30" dirty="0"/>
              <a:t> </a:t>
            </a:r>
            <a:r>
              <a:rPr spc="-10" dirty="0"/>
              <a:t>heart </a:t>
            </a:r>
            <a:r>
              <a:rPr spc="-80" dirty="0"/>
              <a:t>disease</a:t>
            </a:r>
            <a:r>
              <a:rPr spc="15" dirty="0"/>
              <a:t> </a:t>
            </a:r>
            <a:r>
              <a:rPr spc="-45" dirty="0"/>
              <a:t>diagnosis</a:t>
            </a:r>
            <a:r>
              <a:rPr spc="-10" dirty="0"/>
              <a:t> systems.</a:t>
            </a:r>
          </a:p>
          <a:p>
            <a:pPr marL="265430" marR="368300">
              <a:lnSpc>
                <a:spcPct val="100000"/>
              </a:lnSpc>
              <a:spcBef>
                <a:spcPts val="290"/>
              </a:spcBef>
            </a:pPr>
            <a:r>
              <a:rPr b="1" spc="-30" dirty="0">
                <a:latin typeface="Arial"/>
                <a:cs typeface="Arial"/>
              </a:rPr>
              <a:t>Fragmented</a:t>
            </a:r>
            <a:r>
              <a:rPr b="1" spc="5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Data</a:t>
            </a:r>
            <a:r>
              <a:rPr dirty="0"/>
              <a:t>:</a:t>
            </a:r>
            <a:r>
              <a:rPr spc="120" dirty="0"/>
              <a:t> </a:t>
            </a:r>
            <a:r>
              <a:rPr spc="-10" dirty="0"/>
              <a:t>Multimodal</a:t>
            </a:r>
            <a:r>
              <a:rPr spc="20" dirty="0"/>
              <a:t> </a:t>
            </a:r>
            <a:r>
              <a:rPr spc="-20" dirty="0"/>
              <a:t>information</a:t>
            </a:r>
            <a:r>
              <a:rPr spc="20" dirty="0"/>
              <a:t> </a:t>
            </a:r>
            <a:r>
              <a:rPr spc="-50" dirty="0"/>
              <a:t>(ECG</a:t>
            </a:r>
            <a:r>
              <a:rPr spc="25" dirty="0"/>
              <a:t> </a:t>
            </a:r>
            <a:r>
              <a:rPr spc="180" dirty="0"/>
              <a:t>+</a:t>
            </a:r>
            <a:r>
              <a:rPr spc="20" dirty="0"/>
              <a:t> </a:t>
            </a:r>
            <a:r>
              <a:rPr spc="-25" dirty="0"/>
              <a:t>Clinical</a:t>
            </a:r>
            <a:r>
              <a:rPr spc="20" dirty="0"/>
              <a:t> </a:t>
            </a:r>
            <a:r>
              <a:rPr dirty="0"/>
              <a:t>Text</a:t>
            </a:r>
            <a:r>
              <a:rPr spc="20" dirty="0"/>
              <a:t> </a:t>
            </a:r>
            <a:r>
              <a:rPr spc="130" dirty="0"/>
              <a:t>+ </a:t>
            </a:r>
            <a:r>
              <a:rPr spc="-20" dirty="0"/>
              <a:t>Lifestyle)</a:t>
            </a:r>
            <a:r>
              <a:rPr spc="-25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often</a:t>
            </a:r>
            <a:r>
              <a:rPr spc="-25" dirty="0"/>
              <a:t> </a:t>
            </a:r>
            <a:r>
              <a:rPr dirty="0"/>
              <a:t>not</a:t>
            </a:r>
            <a:r>
              <a:rPr spc="-25" dirty="0"/>
              <a:t> </a:t>
            </a:r>
            <a:r>
              <a:rPr spc="-10" dirty="0"/>
              <a:t>utilized</a:t>
            </a:r>
            <a:r>
              <a:rPr spc="-20" dirty="0"/>
              <a:t> </a:t>
            </a:r>
            <a:r>
              <a:rPr spc="-10" dirty="0"/>
              <a:t>together.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17" y="1451813"/>
            <a:ext cx="59588" cy="5958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717" y="1793430"/>
            <a:ext cx="59588" cy="5958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6717" y="2135047"/>
            <a:ext cx="59588" cy="59588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64319"/>
            <a:ext cx="4608195" cy="92075"/>
            <a:chOff x="0" y="3364319"/>
            <a:chExt cx="4608195" cy="92075"/>
          </a:xfrm>
        </p:grpSpPr>
        <p:sp>
          <p:nvSpPr>
            <p:cNvPr id="9" name="object 9"/>
            <p:cNvSpPr/>
            <p:nvPr/>
          </p:nvSpPr>
          <p:spPr>
            <a:xfrm>
              <a:off x="0" y="3364319"/>
              <a:ext cx="1536065" cy="92075"/>
            </a:xfrm>
            <a:custGeom>
              <a:avLst/>
              <a:gdLst/>
              <a:ahLst/>
              <a:cxnLst/>
              <a:rect l="l" t="t" r="r" b="b"/>
              <a:pathLst>
                <a:path w="1536065" h="92075">
                  <a:moveTo>
                    <a:pt x="1535976" y="0"/>
                  </a:moveTo>
                  <a:lnTo>
                    <a:pt x="0" y="0"/>
                  </a:lnTo>
                  <a:lnTo>
                    <a:pt x="0" y="91681"/>
                  </a:lnTo>
                  <a:lnTo>
                    <a:pt x="1535976" y="9168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64319"/>
              <a:ext cx="1536065" cy="92075"/>
            </a:xfrm>
            <a:custGeom>
              <a:avLst/>
              <a:gdLst/>
              <a:ahLst/>
              <a:cxnLst/>
              <a:rect l="l" t="t" r="r" b="b"/>
              <a:pathLst>
                <a:path w="1536064" h="92075">
                  <a:moveTo>
                    <a:pt x="1535976" y="0"/>
                  </a:moveTo>
                  <a:lnTo>
                    <a:pt x="0" y="0"/>
                  </a:lnTo>
                  <a:lnTo>
                    <a:pt x="0" y="91681"/>
                  </a:lnTo>
                  <a:lnTo>
                    <a:pt x="1535976" y="9168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64319"/>
              <a:ext cx="1536065" cy="92075"/>
            </a:xfrm>
            <a:custGeom>
              <a:avLst/>
              <a:gdLst/>
              <a:ahLst/>
              <a:cxnLst/>
              <a:rect l="l" t="t" r="r" b="b"/>
              <a:pathLst>
                <a:path w="1536064" h="92075">
                  <a:moveTo>
                    <a:pt x="1535976" y="0"/>
                  </a:moveTo>
                  <a:lnTo>
                    <a:pt x="0" y="0"/>
                  </a:lnTo>
                  <a:lnTo>
                    <a:pt x="0" y="91681"/>
                  </a:lnTo>
                  <a:lnTo>
                    <a:pt x="1535976" y="9168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Group</a:t>
            </a:r>
            <a:r>
              <a:rPr spc="55" dirty="0"/>
              <a:t> </a:t>
            </a:r>
            <a:r>
              <a:rPr dirty="0"/>
              <a:t>50</a:t>
            </a:r>
            <a:r>
              <a:rPr spc="290" dirty="0"/>
              <a:t> </a:t>
            </a:r>
            <a:r>
              <a:rPr spc="45" dirty="0"/>
              <a:t>(JSSATEB)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964435" y="3352906"/>
            <a:ext cx="679450" cy="111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00" dirty="0">
                <a:solidFill>
                  <a:srgbClr val="FFFFFF"/>
                </a:solidFill>
                <a:latin typeface="Verdana"/>
                <a:cs typeface="Verdana"/>
                <a:hlinkClick r:id="rId6" action="ppaction://hlinksldjump"/>
              </a:rPr>
              <a:t>Privacy</a:t>
            </a:r>
            <a:r>
              <a:rPr sz="500" spc="125" dirty="0">
                <a:solidFill>
                  <a:srgbClr val="FFFFFF"/>
                </a:solidFill>
                <a:latin typeface="Verdana"/>
                <a:cs typeface="Verdana"/>
                <a:hlinkClick r:id="rId6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Verdana"/>
                <a:cs typeface="Verdana"/>
                <a:hlinkClick r:id="rId6" action="ppaction://hlinksldjump"/>
              </a:rPr>
              <a:t>Masked</a:t>
            </a:r>
            <a:r>
              <a:rPr sz="500" spc="125" dirty="0">
                <a:solidFill>
                  <a:srgbClr val="FFFFFF"/>
                </a:solidFill>
                <a:latin typeface="Verdana"/>
                <a:cs typeface="Verdana"/>
                <a:hlinkClick r:id="rId6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Verdana"/>
                <a:cs typeface="Verdana"/>
                <a:hlinkClick r:id="rId6" action="ppaction://hlinksldjump"/>
              </a:rPr>
              <a:t>FL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May</a:t>
            </a:r>
            <a:r>
              <a:rPr spc="70" dirty="0"/>
              <a:t> </a:t>
            </a:r>
            <a:r>
              <a:rPr dirty="0"/>
              <a:t>8,</a:t>
            </a:r>
            <a:r>
              <a:rPr spc="75" dirty="0"/>
              <a:t> </a:t>
            </a:r>
            <a:r>
              <a:rPr spc="-20" dirty="0"/>
              <a:t>2026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dirty="0"/>
              <a:t>2</a:t>
            </a:fld>
            <a:r>
              <a:rPr spc="-65" dirty="0"/>
              <a:t> </a:t>
            </a:r>
            <a:r>
              <a:rPr spc="90" dirty="0"/>
              <a:t>/</a:t>
            </a:r>
            <a:r>
              <a:rPr spc="-6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90" dirty="0"/>
              <a:t>Proposed</a:t>
            </a:r>
            <a:r>
              <a:rPr spc="35" dirty="0"/>
              <a:t> </a:t>
            </a:r>
            <a:r>
              <a:rPr spc="-40" dirty="0"/>
              <a:t>Solution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17" y="1213942"/>
            <a:ext cx="59588" cy="595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17" y="1555559"/>
            <a:ext cx="59588" cy="595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717" y="1897176"/>
            <a:ext cx="59588" cy="5958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6717" y="2238806"/>
            <a:ext cx="59588" cy="5958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dirty="0"/>
              <a:t>A</a:t>
            </a:r>
            <a:r>
              <a:rPr spc="5" dirty="0"/>
              <a:t> </a:t>
            </a:r>
            <a:r>
              <a:rPr spc="-65" dirty="0"/>
              <a:t>secure</a:t>
            </a:r>
            <a:r>
              <a:rPr spc="15" dirty="0"/>
              <a:t> </a:t>
            </a:r>
            <a:r>
              <a:rPr spc="-20" dirty="0"/>
              <a:t>and</a:t>
            </a:r>
            <a:r>
              <a:rPr spc="5" dirty="0"/>
              <a:t> </a:t>
            </a:r>
            <a:r>
              <a:rPr spc="-10" dirty="0"/>
              <a:t>intelligent</a:t>
            </a:r>
            <a:r>
              <a:rPr spc="10" dirty="0"/>
              <a:t> </a:t>
            </a:r>
            <a:r>
              <a:rPr spc="-40" dirty="0"/>
              <a:t>framework</a:t>
            </a:r>
            <a:r>
              <a:rPr spc="5" dirty="0"/>
              <a:t> </a:t>
            </a:r>
            <a:r>
              <a:rPr spc="-10" dirty="0"/>
              <a:t>integrating:</a:t>
            </a:r>
          </a:p>
          <a:p>
            <a:pPr marL="265430" marR="220345">
              <a:lnSpc>
                <a:spcPct val="100000"/>
              </a:lnSpc>
              <a:spcBef>
                <a:spcPts val="295"/>
              </a:spcBef>
            </a:pPr>
            <a:r>
              <a:rPr b="1" spc="-25" dirty="0">
                <a:latin typeface="Arial"/>
                <a:cs typeface="Arial"/>
              </a:rPr>
              <a:t>Federated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b="1" spc="-40" dirty="0">
                <a:latin typeface="Arial"/>
                <a:cs typeface="Arial"/>
              </a:rPr>
              <a:t>Learning</a:t>
            </a:r>
            <a:r>
              <a:rPr b="1" spc="3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(FL)</a:t>
            </a:r>
            <a:r>
              <a:rPr dirty="0"/>
              <a:t>:</a:t>
            </a:r>
            <a:r>
              <a:rPr spc="5" dirty="0"/>
              <a:t> </a:t>
            </a:r>
            <a:r>
              <a:rPr spc="-10" dirty="0"/>
              <a:t>Distributed</a:t>
            </a:r>
            <a:r>
              <a:rPr spc="5" dirty="0"/>
              <a:t> </a:t>
            </a:r>
            <a:r>
              <a:rPr spc="-10" dirty="0"/>
              <a:t>training</a:t>
            </a:r>
            <a:r>
              <a:rPr spc="5" dirty="0"/>
              <a:t> </a:t>
            </a:r>
            <a:r>
              <a:rPr spc="-45" dirty="0"/>
              <a:t>where</a:t>
            </a:r>
            <a:r>
              <a:rPr spc="10" dirty="0"/>
              <a:t> </a:t>
            </a:r>
            <a:r>
              <a:rPr spc="-20" dirty="0"/>
              <a:t>raw</a:t>
            </a:r>
            <a:r>
              <a:rPr spc="5" dirty="0"/>
              <a:t> </a:t>
            </a:r>
            <a:r>
              <a:rPr dirty="0"/>
              <a:t>data</a:t>
            </a:r>
            <a:r>
              <a:rPr spc="5" dirty="0"/>
              <a:t> </a:t>
            </a:r>
            <a:r>
              <a:rPr spc="-30" dirty="0"/>
              <a:t>remains </a:t>
            </a:r>
            <a:r>
              <a:rPr spc="-10" dirty="0"/>
              <a:t>local;</a:t>
            </a:r>
            <a:r>
              <a:rPr spc="-45" dirty="0"/>
              <a:t> </a:t>
            </a:r>
            <a:r>
              <a:rPr spc="-10" dirty="0"/>
              <a:t>only</a:t>
            </a:r>
            <a:r>
              <a:rPr spc="-35" dirty="0"/>
              <a:t> </a:t>
            </a:r>
            <a:r>
              <a:rPr spc="-30" dirty="0"/>
              <a:t>model </a:t>
            </a:r>
            <a:r>
              <a:rPr spc="-35" dirty="0"/>
              <a:t>updates</a:t>
            </a:r>
            <a:r>
              <a:rPr spc="-30" dirty="0"/>
              <a:t> </a:t>
            </a:r>
            <a:r>
              <a:rPr spc="-50" dirty="0"/>
              <a:t>are</a:t>
            </a:r>
            <a:r>
              <a:rPr spc="-20" dirty="0"/>
              <a:t> </a:t>
            </a:r>
            <a:r>
              <a:rPr spc="-10" dirty="0"/>
              <a:t>shared.</a:t>
            </a:r>
          </a:p>
          <a:p>
            <a:pPr marL="265430" marR="5080">
              <a:lnSpc>
                <a:spcPct val="100000"/>
              </a:lnSpc>
              <a:spcBef>
                <a:spcPts val="290"/>
              </a:spcBef>
            </a:pPr>
            <a:r>
              <a:rPr b="1" spc="-25" dirty="0">
                <a:latin typeface="Arial"/>
                <a:cs typeface="Arial"/>
              </a:rPr>
              <a:t>Privacy</a:t>
            </a:r>
            <a:r>
              <a:rPr b="1" spc="2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Masking</a:t>
            </a:r>
            <a:r>
              <a:rPr spc="-10" dirty="0"/>
              <a:t>:</a:t>
            </a:r>
            <a:r>
              <a:rPr spc="90" dirty="0"/>
              <a:t> </a:t>
            </a:r>
            <a:r>
              <a:rPr spc="-80" dirty="0"/>
              <a:t>NER-</a:t>
            </a:r>
            <a:r>
              <a:rPr spc="-50" dirty="0"/>
              <a:t>based</a:t>
            </a:r>
            <a:r>
              <a:rPr spc="-5" dirty="0"/>
              <a:t> </a:t>
            </a:r>
            <a:r>
              <a:rPr spc="-40" dirty="0"/>
              <a:t>removal</a:t>
            </a:r>
            <a:r>
              <a:rPr dirty="0"/>
              <a:t> of</a:t>
            </a:r>
            <a:r>
              <a:rPr spc="-5" dirty="0"/>
              <a:t> </a:t>
            </a:r>
            <a:r>
              <a:rPr spc="-40" dirty="0"/>
              <a:t>sensitive</a:t>
            </a:r>
            <a:r>
              <a:rPr dirty="0"/>
              <a:t> PII </a:t>
            </a:r>
            <a:r>
              <a:rPr spc="-25" dirty="0"/>
              <a:t>(Name,</a:t>
            </a:r>
            <a:r>
              <a:rPr spc="-5" dirty="0"/>
              <a:t> </a:t>
            </a:r>
            <a:r>
              <a:rPr dirty="0"/>
              <a:t>ID, </a:t>
            </a:r>
            <a:r>
              <a:rPr spc="-20" dirty="0"/>
              <a:t>Address) </a:t>
            </a:r>
            <a:r>
              <a:rPr dirty="0"/>
              <a:t>from</a:t>
            </a:r>
            <a:r>
              <a:rPr spc="-20" dirty="0"/>
              <a:t> clinical</a:t>
            </a:r>
            <a:r>
              <a:rPr spc="-15" dirty="0"/>
              <a:t> </a:t>
            </a:r>
            <a:r>
              <a:rPr spc="-10" dirty="0"/>
              <a:t>reports.</a:t>
            </a:r>
          </a:p>
          <a:p>
            <a:pPr marL="265430" marR="231140">
              <a:lnSpc>
                <a:spcPct val="100000"/>
              </a:lnSpc>
              <a:spcBef>
                <a:spcPts val="290"/>
              </a:spcBef>
            </a:pPr>
            <a:r>
              <a:rPr b="1" dirty="0">
                <a:latin typeface="Arial"/>
                <a:cs typeface="Arial"/>
              </a:rPr>
              <a:t>Multimodal</a:t>
            </a:r>
            <a:r>
              <a:rPr b="1" spc="40" dirty="0">
                <a:latin typeface="Arial"/>
                <a:cs typeface="Arial"/>
              </a:rPr>
              <a:t> </a:t>
            </a:r>
            <a:r>
              <a:rPr b="1" spc="-40" dirty="0">
                <a:latin typeface="Arial"/>
                <a:cs typeface="Arial"/>
              </a:rPr>
              <a:t>Fusion</a:t>
            </a:r>
            <a:r>
              <a:rPr spc="-40" dirty="0"/>
              <a:t>:</a:t>
            </a:r>
            <a:r>
              <a:rPr spc="114" dirty="0"/>
              <a:t> </a:t>
            </a:r>
            <a:r>
              <a:rPr spc="-40" dirty="0"/>
              <a:t>Combining</a:t>
            </a:r>
            <a:r>
              <a:rPr spc="20" dirty="0"/>
              <a:t> </a:t>
            </a:r>
            <a:r>
              <a:rPr spc="-95" dirty="0"/>
              <a:t>ECG</a:t>
            </a:r>
            <a:r>
              <a:rPr spc="25" dirty="0"/>
              <a:t> </a:t>
            </a:r>
            <a:r>
              <a:rPr spc="-20" dirty="0"/>
              <a:t>(BiLSTM/Transformers),</a:t>
            </a:r>
            <a:r>
              <a:rPr spc="20" dirty="0"/>
              <a:t> </a:t>
            </a:r>
            <a:r>
              <a:rPr spc="-10" dirty="0"/>
              <a:t>Clinical </a:t>
            </a:r>
            <a:r>
              <a:rPr spc="-40" dirty="0"/>
              <a:t>Reports</a:t>
            </a:r>
            <a:r>
              <a:rPr spc="-15" dirty="0"/>
              <a:t> </a:t>
            </a:r>
            <a:r>
              <a:rPr spc="-35" dirty="0"/>
              <a:t>(Transformers),</a:t>
            </a:r>
            <a:r>
              <a:rPr spc="-15" dirty="0"/>
              <a:t> </a:t>
            </a:r>
            <a:r>
              <a:rPr spc="-20" dirty="0"/>
              <a:t>and</a:t>
            </a:r>
            <a:r>
              <a:rPr spc="-15" dirty="0"/>
              <a:t> </a:t>
            </a:r>
            <a:r>
              <a:rPr spc="-25" dirty="0"/>
              <a:t>Lifestyle</a:t>
            </a:r>
            <a:r>
              <a:rPr spc="-10" dirty="0"/>
              <a:t> </a:t>
            </a:r>
            <a:r>
              <a:rPr dirty="0"/>
              <a:t>data</a:t>
            </a:r>
            <a:r>
              <a:rPr spc="-15" dirty="0"/>
              <a:t> </a:t>
            </a:r>
            <a:r>
              <a:rPr spc="-10" dirty="0"/>
              <a:t>(TabTransformer).</a:t>
            </a:r>
          </a:p>
          <a:p>
            <a:pPr marL="265430" marR="656590">
              <a:lnSpc>
                <a:spcPct val="100000"/>
              </a:lnSpc>
              <a:spcBef>
                <a:spcPts val="290"/>
              </a:spcBef>
            </a:pPr>
            <a:r>
              <a:rPr b="1" spc="-25" dirty="0">
                <a:latin typeface="Arial"/>
                <a:cs typeface="Arial"/>
              </a:rPr>
              <a:t>Explainability</a:t>
            </a:r>
            <a:r>
              <a:rPr spc="-25" dirty="0"/>
              <a:t>:</a:t>
            </a:r>
            <a:r>
              <a:rPr spc="105" dirty="0"/>
              <a:t> </a:t>
            </a:r>
            <a:r>
              <a:rPr spc="-30" dirty="0"/>
              <a:t>Counterfactual</a:t>
            </a:r>
            <a:r>
              <a:rPr spc="15" dirty="0"/>
              <a:t> </a:t>
            </a:r>
            <a:r>
              <a:rPr spc="-25" dirty="0"/>
              <a:t>insights</a:t>
            </a:r>
            <a:r>
              <a:rPr spc="10" dirty="0"/>
              <a:t> </a:t>
            </a:r>
            <a:r>
              <a:rPr spc="-20" dirty="0"/>
              <a:t>and</a:t>
            </a:r>
            <a:r>
              <a:rPr spc="10" dirty="0"/>
              <a:t> </a:t>
            </a:r>
            <a:r>
              <a:rPr spc="-60" dirty="0"/>
              <a:t>causal</a:t>
            </a:r>
            <a:r>
              <a:rPr spc="15" dirty="0"/>
              <a:t> </a:t>
            </a:r>
            <a:r>
              <a:rPr spc="-55" dirty="0"/>
              <a:t>reasoning</a:t>
            </a:r>
            <a:r>
              <a:rPr spc="10" dirty="0"/>
              <a:t> </a:t>
            </a:r>
            <a:r>
              <a:rPr spc="-25" dirty="0"/>
              <a:t>for </a:t>
            </a:r>
            <a:r>
              <a:rPr spc="-10" dirty="0"/>
              <a:t>trustworthiness.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0" y="3364319"/>
            <a:ext cx="4608195" cy="92075"/>
            <a:chOff x="0" y="3364319"/>
            <a:chExt cx="4608195" cy="92075"/>
          </a:xfrm>
        </p:grpSpPr>
        <p:sp>
          <p:nvSpPr>
            <p:cNvPr id="9" name="object 9"/>
            <p:cNvSpPr/>
            <p:nvPr/>
          </p:nvSpPr>
          <p:spPr>
            <a:xfrm>
              <a:off x="0" y="3364319"/>
              <a:ext cx="1536065" cy="92075"/>
            </a:xfrm>
            <a:custGeom>
              <a:avLst/>
              <a:gdLst/>
              <a:ahLst/>
              <a:cxnLst/>
              <a:rect l="l" t="t" r="r" b="b"/>
              <a:pathLst>
                <a:path w="1536065" h="92075">
                  <a:moveTo>
                    <a:pt x="1535976" y="0"/>
                  </a:moveTo>
                  <a:lnTo>
                    <a:pt x="0" y="0"/>
                  </a:lnTo>
                  <a:lnTo>
                    <a:pt x="0" y="91681"/>
                  </a:lnTo>
                  <a:lnTo>
                    <a:pt x="1535976" y="9168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64319"/>
              <a:ext cx="1536065" cy="92075"/>
            </a:xfrm>
            <a:custGeom>
              <a:avLst/>
              <a:gdLst/>
              <a:ahLst/>
              <a:cxnLst/>
              <a:rect l="l" t="t" r="r" b="b"/>
              <a:pathLst>
                <a:path w="1536064" h="92075">
                  <a:moveTo>
                    <a:pt x="1535976" y="0"/>
                  </a:moveTo>
                  <a:lnTo>
                    <a:pt x="0" y="0"/>
                  </a:lnTo>
                  <a:lnTo>
                    <a:pt x="0" y="91681"/>
                  </a:lnTo>
                  <a:lnTo>
                    <a:pt x="1535976" y="9168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64319"/>
              <a:ext cx="1536065" cy="92075"/>
            </a:xfrm>
            <a:custGeom>
              <a:avLst/>
              <a:gdLst/>
              <a:ahLst/>
              <a:cxnLst/>
              <a:rect l="l" t="t" r="r" b="b"/>
              <a:pathLst>
                <a:path w="1536064" h="92075">
                  <a:moveTo>
                    <a:pt x="1535976" y="0"/>
                  </a:moveTo>
                  <a:lnTo>
                    <a:pt x="0" y="0"/>
                  </a:lnTo>
                  <a:lnTo>
                    <a:pt x="0" y="91681"/>
                  </a:lnTo>
                  <a:lnTo>
                    <a:pt x="1535976" y="9168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Group</a:t>
            </a:r>
            <a:r>
              <a:rPr spc="55" dirty="0"/>
              <a:t> </a:t>
            </a:r>
            <a:r>
              <a:rPr dirty="0"/>
              <a:t>50</a:t>
            </a:r>
            <a:r>
              <a:rPr spc="290" dirty="0"/>
              <a:t> </a:t>
            </a:r>
            <a:r>
              <a:rPr spc="45" dirty="0"/>
              <a:t>(JSSATEB)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964435" y="3352906"/>
            <a:ext cx="679450" cy="111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00" dirty="0">
                <a:solidFill>
                  <a:srgbClr val="FFFFFF"/>
                </a:solidFill>
                <a:latin typeface="Verdana"/>
                <a:cs typeface="Verdana"/>
                <a:hlinkClick r:id="rId6" action="ppaction://hlinksldjump"/>
              </a:rPr>
              <a:t>Privacy</a:t>
            </a:r>
            <a:r>
              <a:rPr sz="500" spc="125" dirty="0">
                <a:solidFill>
                  <a:srgbClr val="FFFFFF"/>
                </a:solidFill>
                <a:latin typeface="Verdana"/>
                <a:cs typeface="Verdana"/>
                <a:hlinkClick r:id="rId6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Verdana"/>
                <a:cs typeface="Verdana"/>
                <a:hlinkClick r:id="rId6" action="ppaction://hlinksldjump"/>
              </a:rPr>
              <a:t>Masked</a:t>
            </a:r>
            <a:r>
              <a:rPr sz="500" spc="125" dirty="0">
                <a:solidFill>
                  <a:srgbClr val="FFFFFF"/>
                </a:solidFill>
                <a:latin typeface="Verdana"/>
                <a:cs typeface="Verdana"/>
                <a:hlinkClick r:id="rId6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Verdana"/>
                <a:cs typeface="Verdana"/>
                <a:hlinkClick r:id="rId6" action="ppaction://hlinksldjump"/>
              </a:rPr>
              <a:t>FL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May</a:t>
            </a:r>
            <a:r>
              <a:rPr spc="70" dirty="0"/>
              <a:t> </a:t>
            </a:r>
            <a:r>
              <a:rPr dirty="0"/>
              <a:t>8,</a:t>
            </a:r>
            <a:r>
              <a:rPr spc="75" dirty="0"/>
              <a:t> </a:t>
            </a:r>
            <a:r>
              <a:rPr spc="-20" dirty="0"/>
              <a:t>2026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dirty="0"/>
              <a:t>3</a:t>
            </a:fld>
            <a:r>
              <a:rPr spc="-65" dirty="0"/>
              <a:t> </a:t>
            </a:r>
            <a:r>
              <a:rPr spc="90" dirty="0"/>
              <a:t>/</a:t>
            </a:r>
            <a:r>
              <a:rPr spc="-6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Project</a:t>
            </a:r>
            <a:r>
              <a:rPr spc="-60" dirty="0"/>
              <a:t> </a:t>
            </a:r>
            <a:r>
              <a:rPr spc="-65" dirty="0"/>
              <a:t>Objectives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949" y="1116812"/>
            <a:ext cx="104279" cy="10427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27139" y="1106331"/>
            <a:ext cx="660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Verdana"/>
                <a:cs typeface="Verdana"/>
              </a:rPr>
              <a:t>1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6877" y="1028313"/>
            <a:ext cx="3937635" cy="131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0660">
              <a:lnSpc>
                <a:spcPct val="124500"/>
              </a:lnSpc>
              <a:spcBef>
                <a:spcPts val="100"/>
              </a:spcBef>
            </a:pPr>
            <a:r>
              <a:rPr sz="1000" spc="-50" dirty="0">
                <a:latin typeface="Arial MT"/>
                <a:cs typeface="Arial MT"/>
              </a:rPr>
              <a:t>Develop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an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AI-</a:t>
            </a:r>
            <a:r>
              <a:rPr sz="1000" spc="-45" dirty="0">
                <a:latin typeface="Arial MT"/>
                <a:cs typeface="Arial MT"/>
              </a:rPr>
              <a:t>based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system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75" dirty="0">
                <a:latin typeface="Arial MT"/>
                <a:cs typeface="Arial MT"/>
              </a:rPr>
              <a:t>secure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heart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80" dirty="0">
                <a:latin typeface="Arial MT"/>
                <a:cs typeface="Arial MT"/>
              </a:rPr>
              <a:t>disease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diagnosis. </a:t>
            </a:r>
            <a:r>
              <a:rPr sz="1000" spc="-25" dirty="0">
                <a:latin typeface="Arial MT"/>
                <a:cs typeface="Arial MT"/>
              </a:rPr>
              <a:t>Implement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b="1" spc="-25" dirty="0">
                <a:latin typeface="Arial"/>
                <a:cs typeface="Arial"/>
              </a:rPr>
              <a:t>Federated</a:t>
            </a:r>
            <a:r>
              <a:rPr sz="1000" b="1" spc="25" dirty="0">
                <a:latin typeface="Arial"/>
                <a:cs typeface="Arial"/>
              </a:rPr>
              <a:t> </a:t>
            </a:r>
            <a:r>
              <a:rPr sz="1000" b="1" spc="-40" dirty="0">
                <a:latin typeface="Arial"/>
                <a:cs typeface="Arial"/>
              </a:rPr>
              <a:t>Learning</a:t>
            </a:r>
            <a:r>
              <a:rPr sz="1000" b="1" spc="10" dirty="0">
                <a:latin typeface="Arial"/>
                <a:cs typeface="Arial"/>
              </a:rPr>
              <a:t>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privacy-</a:t>
            </a:r>
            <a:r>
              <a:rPr sz="1000" spc="-50" dirty="0">
                <a:latin typeface="Arial MT"/>
                <a:cs typeface="Arial MT"/>
              </a:rPr>
              <a:t>preserving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model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training.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000" dirty="0">
                <a:latin typeface="Arial MT"/>
                <a:cs typeface="Arial MT"/>
              </a:rPr>
              <a:t>Apply </a:t>
            </a:r>
            <a:r>
              <a:rPr sz="1000" b="1" dirty="0">
                <a:latin typeface="Arial"/>
                <a:cs typeface="Arial"/>
              </a:rPr>
              <a:t>NER</a:t>
            </a:r>
            <a:r>
              <a:rPr sz="1000" b="1" spc="15" dirty="0">
                <a:latin typeface="Arial"/>
                <a:cs typeface="Arial"/>
              </a:rPr>
              <a:t> </a:t>
            </a:r>
            <a:r>
              <a:rPr sz="1000" b="1" spc="-45" dirty="0">
                <a:latin typeface="Arial"/>
                <a:cs typeface="Arial"/>
              </a:rPr>
              <a:t>techniques</a:t>
            </a:r>
            <a:r>
              <a:rPr sz="1000" b="1" spc="-5" dirty="0">
                <a:latin typeface="Arial"/>
                <a:cs typeface="Arial"/>
              </a:rPr>
              <a:t>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-10" dirty="0">
                <a:latin typeface="Arial MT"/>
                <a:cs typeface="Arial MT"/>
              </a:rPr>
              <a:t> automatic </a:t>
            </a:r>
            <a:r>
              <a:rPr sz="1000" spc="-30" dirty="0">
                <a:latin typeface="Arial MT"/>
                <a:cs typeface="Arial MT"/>
              </a:rPr>
              <a:t>privacy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masking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of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patient</a:t>
            </a:r>
            <a:r>
              <a:rPr sz="1000" spc="-10" dirty="0">
                <a:latin typeface="Arial MT"/>
                <a:cs typeface="Arial MT"/>
              </a:rPr>
              <a:t> reports.</a:t>
            </a:r>
            <a:endParaRPr sz="1000">
              <a:latin typeface="Arial MT"/>
              <a:cs typeface="Arial MT"/>
            </a:endParaRPr>
          </a:p>
          <a:p>
            <a:pPr marL="12700" marR="281305">
              <a:lnSpc>
                <a:spcPct val="100000"/>
              </a:lnSpc>
              <a:spcBef>
                <a:spcPts val="295"/>
              </a:spcBef>
            </a:pPr>
            <a:r>
              <a:rPr sz="1000" spc="-60" dirty="0">
                <a:latin typeface="Arial MT"/>
                <a:cs typeface="Arial MT"/>
              </a:rPr>
              <a:t>Process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b="1" spc="-15" dirty="0">
                <a:latin typeface="Arial"/>
                <a:cs typeface="Arial"/>
              </a:rPr>
              <a:t>multimodal </a:t>
            </a:r>
            <a:r>
              <a:rPr sz="1000" b="1" dirty="0">
                <a:latin typeface="Arial"/>
                <a:cs typeface="Arial"/>
              </a:rPr>
              <a:t>data</a:t>
            </a:r>
            <a:r>
              <a:rPr sz="1000" b="1" spc="-20" dirty="0">
                <a:latin typeface="Arial"/>
                <a:cs typeface="Arial"/>
              </a:rPr>
              <a:t> </a:t>
            </a:r>
            <a:r>
              <a:rPr sz="1000" spc="-35" dirty="0">
                <a:latin typeface="Arial MT"/>
                <a:cs typeface="Arial MT"/>
              </a:rPr>
              <a:t>(ECG,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clinical</a:t>
            </a:r>
            <a:r>
              <a:rPr sz="1000" spc="-25" dirty="0">
                <a:latin typeface="Arial MT"/>
                <a:cs typeface="Arial MT"/>
              </a:rPr>
              <a:t> reports, </a:t>
            </a:r>
            <a:r>
              <a:rPr sz="1000" spc="-20" dirty="0">
                <a:latin typeface="Arial MT"/>
                <a:cs typeface="Arial MT"/>
              </a:rPr>
              <a:t>lifestyle)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higher accuracy.</a:t>
            </a:r>
            <a:endParaRPr sz="1000">
              <a:latin typeface="Arial MT"/>
              <a:cs typeface="Arial MT"/>
            </a:endParaRPr>
          </a:p>
          <a:p>
            <a:pPr marL="12700" marR="491490">
              <a:lnSpc>
                <a:spcPts val="1490"/>
              </a:lnSpc>
              <a:spcBef>
                <a:spcPts val="95"/>
              </a:spcBef>
            </a:pPr>
            <a:r>
              <a:rPr sz="1000" spc="-30" dirty="0">
                <a:latin typeface="Arial MT"/>
                <a:cs typeface="Arial MT"/>
              </a:rPr>
              <a:t>Provide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b="1" spc="-35" dirty="0">
                <a:latin typeface="Arial"/>
                <a:cs typeface="Arial"/>
              </a:rPr>
              <a:t>explainable</a:t>
            </a:r>
            <a:r>
              <a:rPr sz="1000" b="1" spc="40" dirty="0">
                <a:latin typeface="Arial"/>
                <a:cs typeface="Arial"/>
              </a:rPr>
              <a:t> </a:t>
            </a:r>
            <a:r>
              <a:rPr sz="1000" b="1" spc="-50" dirty="0">
                <a:latin typeface="Arial"/>
                <a:cs typeface="Arial"/>
              </a:rPr>
              <a:t>predictions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spc="-35" dirty="0">
                <a:latin typeface="Arial MT"/>
                <a:cs typeface="Arial MT"/>
              </a:rPr>
              <a:t>using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counterfactual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reasoning. </a:t>
            </a:r>
            <a:r>
              <a:rPr sz="1000" dirty="0">
                <a:latin typeface="Arial MT"/>
                <a:cs typeface="Arial MT"/>
              </a:rPr>
              <a:t>Build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an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interactive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dashboard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doctors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patients.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7949" y="1306601"/>
            <a:ext cx="104279" cy="10427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27139" y="1296120"/>
            <a:ext cx="660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Verdana"/>
                <a:cs typeface="Verdana"/>
              </a:rPr>
              <a:t>2</a:t>
            </a:r>
            <a:endParaRPr sz="50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7949" y="1496390"/>
            <a:ext cx="104279" cy="10427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27139" y="1485909"/>
            <a:ext cx="660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Verdana"/>
                <a:cs typeface="Verdana"/>
              </a:rPr>
              <a:t>3</a:t>
            </a:r>
            <a:endParaRPr sz="500">
              <a:latin typeface="Verdana"/>
              <a:cs typeface="Verdan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7949" y="1686179"/>
            <a:ext cx="104279" cy="10427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27139" y="1675697"/>
            <a:ext cx="660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Verdana"/>
                <a:cs typeface="Verdana"/>
              </a:rPr>
              <a:t>4</a:t>
            </a:r>
            <a:endParaRPr sz="500">
              <a:latin typeface="Verdana"/>
              <a:cs typeface="Verdan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7949" y="2027796"/>
            <a:ext cx="104279" cy="10427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27139" y="2017315"/>
            <a:ext cx="660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Verdana"/>
                <a:cs typeface="Verdana"/>
              </a:rPr>
              <a:t>5</a:t>
            </a:r>
            <a:endParaRPr sz="500">
              <a:latin typeface="Verdana"/>
              <a:cs typeface="Verdan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7949" y="2217585"/>
            <a:ext cx="104279" cy="10427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27139" y="2207103"/>
            <a:ext cx="6604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solidFill>
                  <a:srgbClr val="FFFFFF"/>
                </a:solidFill>
                <a:latin typeface="Verdana"/>
                <a:cs typeface="Verdana"/>
              </a:rPr>
              <a:t>6</a:t>
            </a:r>
            <a:endParaRPr sz="5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364319"/>
            <a:ext cx="4608195" cy="92075"/>
            <a:chOff x="0" y="3364319"/>
            <a:chExt cx="4608195" cy="92075"/>
          </a:xfrm>
        </p:grpSpPr>
        <p:sp>
          <p:nvSpPr>
            <p:cNvPr id="17" name="object 17"/>
            <p:cNvSpPr/>
            <p:nvPr/>
          </p:nvSpPr>
          <p:spPr>
            <a:xfrm>
              <a:off x="0" y="3364319"/>
              <a:ext cx="1536065" cy="92075"/>
            </a:xfrm>
            <a:custGeom>
              <a:avLst/>
              <a:gdLst/>
              <a:ahLst/>
              <a:cxnLst/>
              <a:rect l="l" t="t" r="r" b="b"/>
              <a:pathLst>
                <a:path w="1536065" h="92075">
                  <a:moveTo>
                    <a:pt x="1535976" y="0"/>
                  </a:moveTo>
                  <a:lnTo>
                    <a:pt x="0" y="0"/>
                  </a:lnTo>
                  <a:lnTo>
                    <a:pt x="0" y="91681"/>
                  </a:lnTo>
                  <a:lnTo>
                    <a:pt x="1535976" y="9168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35976" y="3364319"/>
              <a:ext cx="1536065" cy="92075"/>
            </a:xfrm>
            <a:custGeom>
              <a:avLst/>
              <a:gdLst/>
              <a:ahLst/>
              <a:cxnLst/>
              <a:rect l="l" t="t" r="r" b="b"/>
              <a:pathLst>
                <a:path w="1536064" h="92075">
                  <a:moveTo>
                    <a:pt x="1535976" y="0"/>
                  </a:moveTo>
                  <a:lnTo>
                    <a:pt x="0" y="0"/>
                  </a:lnTo>
                  <a:lnTo>
                    <a:pt x="0" y="91681"/>
                  </a:lnTo>
                  <a:lnTo>
                    <a:pt x="1535976" y="9168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71952" y="3364319"/>
              <a:ext cx="1536065" cy="92075"/>
            </a:xfrm>
            <a:custGeom>
              <a:avLst/>
              <a:gdLst/>
              <a:ahLst/>
              <a:cxnLst/>
              <a:rect l="l" t="t" r="r" b="b"/>
              <a:pathLst>
                <a:path w="1536064" h="92075">
                  <a:moveTo>
                    <a:pt x="1535976" y="0"/>
                  </a:moveTo>
                  <a:lnTo>
                    <a:pt x="0" y="0"/>
                  </a:lnTo>
                  <a:lnTo>
                    <a:pt x="0" y="91681"/>
                  </a:lnTo>
                  <a:lnTo>
                    <a:pt x="1535976" y="9168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Group</a:t>
            </a:r>
            <a:r>
              <a:rPr spc="55" dirty="0"/>
              <a:t> </a:t>
            </a:r>
            <a:r>
              <a:rPr dirty="0"/>
              <a:t>50</a:t>
            </a:r>
            <a:r>
              <a:rPr spc="290" dirty="0"/>
              <a:t> </a:t>
            </a:r>
            <a:r>
              <a:rPr spc="45" dirty="0"/>
              <a:t>(JSSATEB)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964435" y="3352906"/>
            <a:ext cx="679450" cy="111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00" dirty="0">
                <a:solidFill>
                  <a:srgbClr val="FFFFFF"/>
                </a:solidFill>
                <a:latin typeface="Verdana"/>
                <a:cs typeface="Verdana"/>
                <a:hlinkClick r:id="rId8" action="ppaction://hlinksldjump"/>
              </a:rPr>
              <a:t>Privacy</a:t>
            </a:r>
            <a:r>
              <a:rPr sz="500" spc="125" dirty="0">
                <a:solidFill>
                  <a:srgbClr val="FFFFFF"/>
                </a:solidFill>
                <a:latin typeface="Verdana"/>
                <a:cs typeface="Verdana"/>
                <a:hlinkClick r:id="rId8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Verdana"/>
                <a:cs typeface="Verdana"/>
                <a:hlinkClick r:id="rId8" action="ppaction://hlinksldjump"/>
              </a:rPr>
              <a:t>Masked</a:t>
            </a:r>
            <a:r>
              <a:rPr sz="500" spc="125" dirty="0">
                <a:solidFill>
                  <a:srgbClr val="FFFFFF"/>
                </a:solidFill>
                <a:latin typeface="Verdana"/>
                <a:cs typeface="Verdana"/>
                <a:hlinkClick r:id="rId8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Verdana"/>
                <a:cs typeface="Verdana"/>
                <a:hlinkClick r:id="rId8" action="ppaction://hlinksldjump"/>
              </a:rPr>
              <a:t>FL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May</a:t>
            </a:r>
            <a:r>
              <a:rPr spc="70" dirty="0"/>
              <a:t> </a:t>
            </a:r>
            <a:r>
              <a:rPr dirty="0"/>
              <a:t>8,</a:t>
            </a:r>
            <a:r>
              <a:rPr spc="75" dirty="0"/>
              <a:t> </a:t>
            </a:r>
            <a:r>
              <a:rPr spc="-20" dirty="0"/>
              <a:t>2026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dirty="0"/>
              <a:t>4</a:t>
            </a:fld>
            <a:r>
              <a:rPr spc="-65" dirty="0"/>
              <a:t> </a:t>
            </a:r>
            <a:r>
              <a:rPr spc="90" dirty="0"/>
              <a:t>/</a:t>
            </a:r>
            <a:r>
              <a:rPr spc="-6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61884"/>
            <a:ext cx="1875789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Literature</a:t>
            </a:r>
            <a:r>
              <a:rPr spc="15" dirty="0"/>
              <a:t> </a:t>
            </a:r>
            <a:r>
              <a:rPr spc="-90" dirty="0"/>
              <a:t>Survey</a:t>
            </a:r>
            <a:r>
              <a:rPr spc="15" dirty="0"/>
              <a:t> </a:t>
            </a:r>
            <a:r>
              <a:rPr spc="90" dirty="0"/>
              <a:t>&amp;</a:t>
            </a:r>
            <a:r>
              <a:rPr spc="15" dirty="0"/>
              <a:t> </a:t>
            </a:r>
            <a:r>
              <a:rPr spc="-110" dirty="0"/>
              <a:t>Gaps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17" y="864285"/>
            <a:ext cx="59588" cy="595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6877" y="749230"/>
            <a:ext cx="3965575" cy="108839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b="1" spc="-10" dirty="0">
                <a:latin typeface="Arial"/>
                <a:cs typeface="Arial"/>
              </a:rPr>
              <a:t>Gap</a:t>
            </a:r>
            <a:r>
              <a:rPr sz="1000" b="1" spc="2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1</a:t>
            </a:r>
            <a:r>
              <a:rPr sz="1000" dirty="0">
                <a:latin typeface="Arial MT"/>
                <a:cs typeface="Arial MT"/>
              </a:rPr>
              <a:t>:</a:t>
            </a:r>
            <a:r>
              <a:rPr sz="1000" spc="9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Most </a:t>
            </a:r>
            <a:r>
              <a:rPr sz="1000" spc="-60" dirty="0">
                <a:latin typeface="Arial MT"/>
                <a:cs typeface="Arial MT"/>
              </a:rPr>
              <a:t>systems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prioritize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accuracy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over</a:t>
            </a:r>
            <a:r>
              <a:rPr sz="1000" dirty="0">
                <a:latin typeface="Arial MT"/>
                <a:cs typeface="Arial MT"/>
              </a:rPr>
              <a:t> patient </a:t>
            </a:r>
            <a:r>
              <a:rPr sz="1000" spc="-10" dirty="0">
                <a:latin typeface="Arial MT"/>
                <a:cs typeface="Arial MT"/>
              </a:rPr>
              <a:t>privacy.</a:t>
            </a:r>
            <a:endParaRPr sz="10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295"/>
              </a:spcBef>
            </a:pPr>
            <a:r>
              <a:rPr sz="1000" b="1" spc="-10" dirty="0">
                <a:latin typeface="Arial"/>
                <a:cs typeface="Arial"/>
              </a:rPr>
              <a:t>Gap</a:t>
            </a:r>
            <a:r>
              <a:rPr sz="1000" b="1" spc="2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2</a:t>
            </a:r>
            <a:r>
              <a:rPr sz="1000" dirty="0">
                <a:latin typeface="Arial MT"/>
                <a:cs typeface="Arial MT"/>
              </a:rPr>
              <a:t>:</a:t>
            </a:r>
            <a:r>
              <a:rPr sz="1000" spc="85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Absence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of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multimodal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fusion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(textual </a:t>
            </a:r>
            <a:r>
              <a:rPr sz="1000" spc="-25" dirty="0">
                <a:latin typeface="Arial MT"/>
                <a:cs typeface="Arial MT"/>
              </a:rPr>
              <a:t>reports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are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rarely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combined </a:t>
            </a:r>
            <a:r>
              <a:rPr sz="1000" dirty="0">
                <a:latin typeface="Arial MT"/>
                <a:cs typeface="Arial MT"/>
              </a:rPr>
              <a:t>with</a:t>
            </a:r>
            <a:r>
              <a:rPr sz="1000" spc="5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ECG).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00" b="1" spc="-10" dirty="0">
                <a:latin typeface="Arial"/>
                <a:cs typeface="Arial"/>
              </a:rPr>
              <a:t>Gap</a:t>
            </a:r>
            <a:r>
              <a:rPr sz="1000" b="1" spc="2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3</a:t>
            </a:r>
            <a:r>
              <a:rPr sz="1000" dirty="0">
                <a:latin typeface="Arial MT"/>
                <a:cs typeface="Arial MT"/>
              </a:rPr>
              <a:t>:</a:t>
            </a:r>
            <a:r>
              <a:rPr sz="1000" spc="8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Lack</a:t>
            </a:r>
            <a:r>
              <a:rPr sz="1000" dirty="0">
                <a:latin typeface="Arial MT"/>
                <a:cs typeface="Arial MT"/>
              </a:rPr>
              <a:t> of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distributed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learning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(most </a:t>
            </a:r>
            <a:r>
              <a:rPr sz="1000" spc="-60" dirty="0">
                <a:latin typeface="Arial MT"/>
                <a:cs typeface="Arial MT"/>
              </a:rPr>
              <a:t>systems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are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centralized).</a:t>
            </a:r>
            <a:endParaRPr sz="1000">
              <a:latin typeface="Arial MT"/>
              <a:cs typeface="Arial MT"/>
            </a:endParaRPr>
          </a:p>
          <a:p>
            <a:pPr marL="12700" marR="132080">
              <a:lnSpc>
                <a:spcPct val="100000"/>
              </a:lnSpc>
              <a:spcBef>
                <a:spcPts val="290"/>
              </a:spcBef>
            </a:pPr>
            <a:r>
              <a:rPr sz="1000" b="1" spc="-10" dirty="0">
                <a:latin typeface="Arial"/>
                <a:cs typeface="Arial"/>
              </a:rPr>
              <a:t>Gap</a:t>
            </a:r>
            <a:r>
              <a:rPr sz="1000" b="1" spc="5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4</a:t>
            </a:r>
            <a:r>
              <a:rPr sz="1000" dirty="0">
                <a:latin typeface="Arial MT"/>
                <a:cs typeface="Arial MT"/>
              </a:rPr>
              <a:t>:</a:t>
            </a:r>
            <a:r>
              <a:rPr sz="1000" spc="13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Limited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interpretability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35" dirty="0">
                <a:latin typeface="Arial MT"/>
                <a:cs typeface="Arial MT"/>
              </a:rPr>
              <a:t>(black-</a:t>
            </a:r>
            <a:r>
              <a:rPr sz="1000" spc="-10" dirty="0">
                <a:latin typeface="Arial MT"/>
                <a:cs typeface="Arial MT"/>
              </a:rPr>
              <a:t>box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predictions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without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"why"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or </a:t>
            </a:r>
            <a:r>
              <a:rPr sz="1000" dirty="0">
                <a:latin typeface="Arial MT"/>
                <a:cs typeface="Arial MT"/>
              </a:rPr>
              <a:t>"what-</a:t>
            </a:r>
            <a:r>
              <a:rPr sz="1000" spc="-10" dirty="0">
                <a:latin typeface="Arial MT"/>
                <a:cs typeface="Arial MT"/>
              </a:rPr>
              <a:t>if").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17" y="1054074"/>
            <a:ext cx="59588" cy="5958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717" y="1395704"/>
            <a:ext cx="59588" cy="5958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6717" y="1585493"/>
            <a:ext cx="59588" cy="5958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75729" y="2321127"/>
            <a:ext cx="4457065" cy="198755"/>
          </a:xfrm>
          <a:custGeom>
            <a:avLst/>
            <a:gdLst/>
            <a:ahLst/>
            <a:cxnLst/>
            <a:rect l="l" t="t" r="r" b="b"/>
            <a:pathLst>
              <a:path w="4457065" h="198755">
                <a:moveTo>
                  <a:pt x="440580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35"/>
                </a:lnTo>
                <a:lnTo>
                  <a:pt x="4456606" y="198335"/>
                </a:lnTo>
                <a:lnTo>
                  <a:pt x="4456606" y="50800"/>
                </a:lnTo>
                <a:lnTo>
                  <a:pt x="4452598" y="31075"/>
                </a:lnTo>
                <a:lnTo>
                  <a:pt x="4441684" y="14922"/>
                </a:lnTo>
                <a:lnTo>
                  <a:pt x="4425531" y="4008"/>
                </a:lnTo>
                <a:lnTo>
                  <a:pt x="4405806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6530" y="2328762"/>
            <a:ext cx="1087755" cy="1847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10"/>
              </a:lnSpc>
            </a:pP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Our</a:t>
            </a:r>
            <a:r>
              <a:rPr sz="1200" spc="-65" dirty="0">
                <a:solidFill>
                  <a:srgbClr val="FFFFFF"/>
                </a:solidFill>
                <a:latin typeface="Arial MT"/>
                <a:cs typeface="Arial MT"/>
              </a:rPr>
              <a:t> Improvement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5729" y="2378070"/>
            <a:ext cx="4507865" cy="409575"/>
            <a:chOff x="75729" y="2378070"/>
            <a:chExt cx="4507865" cy="409575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729" y="2506814"/>
              <a:ext cx="4456607" cy="5060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26530" y="2378070"/>
              <a:ext cx="4457065" cy="409575"/>
            </a:xfrm>
            <a:custGeom>
              <a:avLst/>
              <a:gdLst/>
              <a:ahLst/>
              <a:cxnLst/>
              <a:rect l="l" t="t" r="r" b="b"/>
              <a:pathLst>
                <a:path w="4457065" h="409575">
                  <a:moveTo>
                    <a:pt x="4456607" y="0"/>
                  </a:moveTo>
                  <a:lnTo>
                    <a:pt x="0" y="0"/>
                  </a:lnTo>
                  <a:lnTo>
                    <a:pt x="0" y="409517"/>
                  </a:lnTo>
                  <a:lnTo>
                    <a:pt x="4456607" y="409517"/>
                  </a:lnTo>
                  <a:lnTo>
                    <a:pt x="445660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5729" y="2551100"/>
              <a:ext cx="4457065" cy="186055"/>
            </a:xfrm>
            <a:custGeom>
              <a:avLst/>
              <a:gdLst/>
              <a:ahLst/>
              <a:cxnLst/>
              <a:rect l="l" t="t" r="r" b="b"/>
              <a:pathLst>
                <a:path w="4457065" h="186055">
                  <a:moveTo>
                    <a:pt x="4456606" y="0"/>
                  </a:moveTo>
                  <a:lnTo>
                    <a:pt x="0" y="0"/>
                  </a:lnTo>
                  <a:lnTo>
                    <a:pt x="0" y="134886"/>
                  </a:lnTo>
                  <a:lnTo>
                    <a:pt x="4008" y="154611"/>
                  </a:lnTo>
                  <a:lnTo>
                    <a:pt x="14922" y="170764"/>
                  </a:lnTo>
                  <a:lnTo>
                    <a:pt x="31075" y="181678"/>
                  </a:lnTo>
                  <a:lnTo>
                    <a:pt x="50800" y="185686"/>
                  </a:lnTo>
                  <a:lnTo>
                    <a:pt x="4405806" y="185686"/>
                  </a:lnTo>
                  <a:lnTo>
                    <a:pt x="4425531" y="181678"/>
                  </a:lnTo>
                  <a:lnTo>
                    <a:pt x="4441684" y="170764"/>
                  </a:lnTo>
                  <a:lnTo>
                    <a:pt x="4452598" y="154611"/>
                  </a:lnTo>
                  <a:lnTo>
                    <a:pt x="4456606" y="134886"/>
                  </a:lnTo>
                  <a:lnTo>
                    <a:pt x="4456606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6530" y="2378070"/>
            <a:ext cx="4457065" cy="4095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sz="1000" spc="-20" dirty="0">
                <a:latin typeface="Arial MT"/>
                <a:cs typeface="Arial MT"/>
              </a:rPr>
              <a:t>Unified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framework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60" dirty="0">
                <a:latin typeface="Arial MT"/>
                <a:cs typeface="Arial MT"/>
              </a:rPr>
              <a:t>addressing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b="1" spc="-25" dirty="0">
                <a:latin typeface="Arial"/>
                <a:cs typeface="Arial"/>
              </a:rPr>
              <a:t>Privacy</a:t>
            </a:r>
            <a:r>
              <a:rPr sz="1000" b="1" spc="40" dirty="0">
                <a:latin typeface="Arial"/>
                <a:cs typeface="Arial"/>
              </a:rPr>
              <a:t> </a:t>
            </a:r>
            <a:r>
              <a:rPr sz="1000" b="1" spc="254" dirty="0">
                <a:latin typeface="Arial"/>
                <a:cs typeface="Arial"/>
              </a:rPr>
              <a:t>+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FL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b="1" spc="254" dirty="0">
                <a:latin typeface="Arial"/>
                <a:cs typeface="Arial"/>
              </a:rPr>
              <a:t>+</a:t>
            </a:r>
            <a:r>
              <a:rPr sz="1000" b="1" spc="40" dirty="0">
                <a:latin typeface="Arial"/>
                <a:cs typeface="Arial"/>
              </a:rPr>
              <a:t> </a:t>
            </a:r>
            <a:r>
              <a:rPr sz="1000" b="1" dirty="0">
                <a:latin typeface="Arial"/>
                <a:cs typeface="Arial"/>
              </a:rPr>
              <a:t>Multimodal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b="1" spc="254" dirty="0">
                <a:latin typeface="Arial"/>
                <a:cs typeface="Arial"/>
              </a:rPr>
              <a:t>+</a:t>
            </a:r>
            <a:r>
              <a:rPr sz="1000" b="1" spc="45" dirty="0">
                <a:latin typeface="Arial"/>
                <a:cs typeface="Arial"/>
              </a:rPr>
              <a:t> </a:t>
            </a:r>
            <a:r>
              <a:rPr sz="1000" b="1" spc="-20" dirty="0">
                <a:latin typeface="Arial"/>
                <a:cs typeface="Arial"/>
              </a:rPr>
              <a:t>XAI</a:t>
            </a:r>
            <a:r>
              <a:rPr sz="1000" spc="-20" dirty="0">
                <a:latin typeface="Arial MT"/>
                <a:cs typeface="Arial MT"/>
              </a:rPr>
              <a:t>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0" y="3364319"/>
            <a:ext cx="4608195" cy="92075"/>
            <a:chOff x="0" y="3364319"/>
            <a:chExt cx="4608195" cy="92075"/>
          </a:xfrm>
        </p:grpSpPr>
        <p:sp>
          <p:nvSpPr>
            <p:cNvPr id="16" name="object 16"/>
            <p:cNvSpPr/>
            <p:nvPr/>
          </p:nvSpPr>
          <p:spPr>
            <a:xfrm>
              <a:off x="0" y="3364319"/>
              <a:ext cx="1536065" cy="92075"/>
            </a:xfrm>
            <a:custGeom>
              <a:avLst/>
              <a:gdLst/>
              <a:ahLst/>
              <a:cxnLst/>
              <a:rect l="l" t="t" r="r" b="b"/>
              <a:pathLst>
                <a:path w="1536065" h="92075">
                  <a:moveTo>
                    <a:pt x="1535976" y="0"/>
                  </a:moveTo>
                  <a:lnTo>
                    <a:pt x="0" y="0"/>
                  </a:lnTo>
                  <a:lnTo>
                    <a:pt x="0" y="91681"/>
                  </a:lnTo>
                  <a:lnTo>
                    <a:pt x="1535976" y="9168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35976" y="3364319"/>
              <a:ext cx="1536065" cy="92075"/>
            </a:xfrm>
            <a:custGeom>
              <a:avLst/>
              <a:gdLst/>
              <a:ahLst/>
              <a:cxnLst/>
              <a:rect l="l" t="t" r="r" b="b"/>
              <a:pathLst>
                <a:path w="1536064" h="92075">
                  <a:moveTo>
                    <a:pt x="1535976" y="0"/>
                  </a:moveTo>
                  <a:lnTo>
                    <a:pt x="0" y="0"/>
                  </a:lnTo>
                  <a:lnTo>
                    <a:pt x="0" y="91681"/>
                  </a:lnTo>
                  <a:lnTo>
                    <a:pt x="1535976" y="9168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71952" y="3364319"/>
              <a:ext cx="1536065" cy="92075"/>
            </a:xfrm>
            <a:custGeom>
              <a:avLst/>
              <a:gdLst/>
              <a:ahLst/>
              <a:cxnLst/>
              <a:rect l="l" t="t" r="r" b="b"/>
              <a:pathLst>
                <a:path w="1536064" h="92075">
                  <a:moveTo>
                    <a:pt x="1535976" y="0"/>
                  </a:moveTo>
                  <a:lnTo>
                    <a:pt x="0" y="0"/>
                  </a:lnTo>
                  <a:lnTo>
                    <a:pt x="0" y="91681"/>
                  </a:lnTo>
                  <a:lnTo>
                    <a:pt x="1535976" y="9168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Group</a:t>
            </a:r>
            <a:r>
              <a:rPr spc="55" dirty="0"/>
              <a:t> </a:t>
            </a:r>
            <a:r>
              <a:rPr dirty="0"/>
              <a:t>50</a:t>
            </a:r>
            <a:r>
              <a:rPr spc="290" dirty="0"/>
              <a:t> </a:t>
            </a:r>
            <a:r>
              <a:rPr spc="45" dirty="0"/>
              <a:t>(JSSATEB)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964435" y="3352906"/>
            <a:ext cx="679450" cy="111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00" dirty="0">
                <a:solidFill>
                  <a:srgbClr val="FFFFFF"/>
                </a:solidFill>
                <a:latin typeface="Verdana"/>
                <a:cs typeface="Verdana"/>
                <a:hlinkClick r:id="rId7" action="ppaction://hlinksldjump"/>
              </a:rPr>
              <a:t>Privacy</a:t>
            </a:r>
            <a:r>
              <a:rPr sz="500" spc="125" dirty="0">
                <a:solidFill>
                  <a:srgbClr val="FFFFFF"/>
                </a:solidFill>
                <a:latin typeface="Verdana"/>
                <a:cs typeface="Verdana"/>
                <a:hlinkClick r:id="rId7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Verdana"/>
                <a:cs typeface="Verdana"/>
                <a:hlinkClick r:id="rId7" action="ppaction://hlinksldjump"/>
              </a:rPr>
              <a:t>Masked</a:t>
            </a:r>
            <a:r>
              <a:rPr sz="500" spc="125" dirty="0">
                <a:solidFill>
                  <a:srgbClr val="FFFFFF"/>
                </a:solidFill>
                <a:latin typeface="Verdana"/>
                <a:cs typeface="Verdana"/>
                <a:hlinkClick r:id="rId7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Verdana"/>
                <a:cs typeface="Verdana"/>
                <a:hlinkClick r:id="rId7" action="ppaction://hlinksldjump"/>
              </a:rPr>
              <a:t>FL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May</a:t>
            </a:r>
            <a:r>
              <a:rPr spc="70" dirty="0"/>
              <a:t> </a:t>
            </a:r>
            <a:r>
              <a:rPr dirty="0"/>
              <a:t>8,</a:t>
            </a:r>
            <a:r>
              <a:rPr spc="75" dirty="0"/>
              <a:t> </a:t>
            </a:r>
            <a:r>
              <a:rPr spc="-20" dirty="0"/>
              <a:t>2026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dirty="0"/>
              <a:t>5</a:t>
            </a:fld>
            <a:r>
              <a:rPr spc="-65" dirty="0"/>
              <a:t> </a:t>
            </a:r>
            <a:r>
              <a:rPr spc="90" dirty="0"/>
              <a:t>/</a:t>
            </a:r>
            <a:r>
              <a:rPr spc="-6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90" dirty="0"/>
              <a:t>Proposed</a:t>
            </a:r>
            <a:r>
              <a:rPr spc="35" dirty="0"/>
              <a:t> </a:t>
            </a:r>
            <a:r>
              <a:rPr spc="-50" dirty="0"/>
              <a:t>Methodology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09934" y="650102"/>
            <a:ext cx="1188720" cy="147320"/>
          </a:xfrm>
          <a:prstGeom prst="rect">
            <a:avLst/>
          </a:prstGeom>
          <a:solidFill>
            <a:srgbClr val="E5E5FF"/>
          </a:solidFill>
          <a:ln w="5060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50"/>
              </a:spcBef>
            </a:pPr>
            <a:r>
              <a:rPr sz="700" dirty="0">
                <a:latin typeface="Arial MT"/>
                <a:cs typeface="Arial MT"/>
              </a:rPr>
              <a:t>Input</a:t>
            </a:r>
            <a:r>
              <a:rPr sz="700" spc="-10" dirty="0">
                <a:latin typeface="Arial MT"/>
                <a:cs typeface="Arial MT"/>
              </a:rPr>
              <a:t> </a:t>
            </a:r>
            <a:r>
              <a:rPr sz="700" spc="-30" dirty="0">
                <a:latin typeface="Arial MT"/>
                <a:cs typeface="Arial MT"/>
              </a:rPr>
              <a:t>(ECG,</a:t>
            </a:r>
            <a:r>
              <a:rPr sz="700" spc="-10" dirty="0">
                <a:latin typeface="Arial MT"/>
                <a:cs typeface="Arial MT"/>
              </a:rPr>
              <a:t> </a:t>
            </a:r>
            <a:r>
              <a:rPr sz="700" spc="-30" dirty="0">
                <a:latin typeface="Arial MT"/>
                <a:cs typeface="Arial MT"/>
              </a:rPr>
              <a:t>Reports,</a:t>
            </a:r>
            <a:r>
              <a:rPr sz="700" spc="-10" dirty="0">
                <a:latin typeface="Arial MT"/>
                <a:cs typeface="Arial MT"/>
              </a:rPr>
              <a:t> Lifestyle)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21372" y="1078114"/>
            <a:ext cx="1165860" cy="147320"/>
          </a:xfrm>
          <a:custGeom>
            <a:avLst/>
            <a:gdLst/>
            <a:ahLst/>
            <a:cxnLst/>
            <a:rect l="l" t="t" r="r" b="b"/>
            <a:pathLst>
              <a:path w="1165860" h="147319">
                <a:moveTo>
                  <a:pt x="1165247" y="0"/>
                </a:moveTo>
                <a:lnTo>
                  <a:pt x="0" y="0"/>
                </a:lnTo>
                <a:lnTo>
                  <a:pt x="0" y="147264"/>
                </a:lnTo>
                <a:lnTo>
                  <a:pt x="1165247" y="147264"/>
                </a:lnTo>
                <a:lnTo>
                  <a:pt x="1165247" y="0"/>
                </a:lnTo>
                <a:close/>
              </a:path>
            </a:pathLst>
          </a:custGeom>
          <a:solidFill>
            <a:srgbClr val="FF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709934" y="1078114"/>
            <a:ext cx="1188720" cy="147320"/>
          </a:xfrm>
          <a:prstGeom prst="rect">
            <a:avLst/>
          </a:prstGeom>
          <a:ln w="5060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40640">
              <a:lnSpc>
                <a:spcPct val="100000"/>
              </a:lnSpc>
              <a:spcBef>
                <a:spcPts val="50"/>
              </a:spcBef>
            </a:pPr>
            <a:r>
              <a:rPr sz="700" spc="-20" dirty="0">
                <a:latin typeface="Arial MT"/>
                <a:cs typeface="Arial MT"/>
              </a:rPr>
              <a:t>Privacy</a:t>
            </a:r>
            <a:r>
              <a:rPr sz="700" spc="5" dirty="0">
                <a:latin typeface="Arial MT"/>
                <a:cs typeface="Arial MT"/>
              </a:rPr>
              <a:t> </a:t>
            </a:r>
            <a:r>
              <a:rPr sz="700" spc="-45" dirty="0">
                <a:latin typeface="Arial MT"/>
                <a:cs typeface="Arial MT"/>
              </a:rPr>
              <a:t>Layer</a:t>
            </a:r>
            <a:r>
              <a:rPr sz="700" spc="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(NER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Masking)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79528" y="1506133"/>
            <a:ext cx="1649095" cy="147320"/>
          </a:xfrm>
          <a:custGeom>
            <a:avLst/>
            <a:gdLst/>
            <a:ahLst/>
            <a:cxnLst/>
            <a:rect l="l" t="t" r="r" b="b"/>
            <a:pathLst>
              <a:path w="1649095" h="147319">
                <a:moveTo>
                  <a:pt x="1648934" y="0"/>
                </a:moveTo>
                <a:lnTo>
                  <a:pt x="0" y="0"/>
                </a:lnTo>
                <a:lnTo>
                  <a:pt x="0" y="147264"/>
                </a:lnTo>
                <a:lnTo>
                  <a:pt x="1648934" y="147264"/>
                </a:lnTo>
                <a:lnTo>
                  <a:pt x="1648934" y="0"/>
                </a:lnTo>
                <a:close/>
              </a:path>
            </a:pathLst>
          </a:custGeom>
          <a:solidFill>
            <a:srgbClr val="E5F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463540" y="1506133"/>
            <a:ext cx="1681480" cy="147320"/>
          </a:xfrm>
          <a:prstGeom prst="rect">
            <a:avLst/>
          </a:prstGeom>
          <a:ln w="5060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50"/>
              </a:spcBef>
            </a:pPr>
            <a:r>
              <a:rPr sz="700" spc="-30" dirty="0">
                <a:latin typeface="Arial MT"/>
                <a:cs typeface="Arial MT"/>
              </a:rPr>
              <a:t>Feature</a:t>
            </a:r>
            <a:r>
              <a:rPr sz="700" spc="-2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Extraction</a:t>
            </a:r>
            <a:r>
              <a:rPr sz="700" spc="-2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(BiLSTM/Transformer)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447553" y="1934161"/>
            <a:ext cx="1713230" cy="147320"/>
          </a:xfrm>
          <a:custGeom>
            <a:avLst/>
            <a:gdLst/>
            <a:ahLst/>
            <a:cxnLst/>
            <a:rect l="l" t="t" r="r" b="b"/>
            <a:pathLst>
              <a:path w="1713230" h="147319">
                <a:moveTo>
                  <a:pt x="1712885" y="0"/>
                </a:moveTo>
                <a:lnTo>
                  <a:pt x="0" y="0"/>
                </a:lnTo>
                <a:lnTo>
                  <a:pt x="0" y="147264"/>
                </a:lnTo>
                <a:lnTo>
                  <a:pt x="1712885" y="147264"/>
                </a:lnTo>
                <a:lnTo>
                  <a:pt x="1712885" y="0"/>
                </a:lnTo>
                <a:close/>
              </a:path>
            </a:pathLst>
          </a:custGeom>
          <a:solidFill>
            <a:srgbClr val="FFFC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463540" y="1934161"/>
            <a:ext cx="1681480" cy="147320"/>
          </a:xfrm>
          <a:prstGeom prst="rect">
            <a:avLst/>
          </a:prstGeom>
          <a:ln w="5060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50"/>
              </a:spcBef>
            </a:pPr>
            <a:r>
              <a:rPr sz="700" spc="-10" dirty="0">
                <a:latin typeface="Arial MT"/>
                <a:cs typeface="Arial MT"/>
              </a:rPr>
              <a:t>Multimodal</a:t>
            </a:r>
            <a:r>
              <a:rPr sz="700" spc="5" dirty="0">
                <a:latin typeface="Arial MT"/>
                <a:cs typeface="Arial MT"/>
              </a:rPr>
              <a:t> </a:t>
            </a:r>
            <a:r>
              <a:rPr sz="700" spc="-35" dirty="0">
                <a:latin typeface="Arial MT"/>
                <a:cs typeface="Arial MT"/>
              </a:rPr>
              <a:t>Fusion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spc="-25" dirty="0">
                <a:latin typeface="Arial MT"/>
                <a:cs typeface="Arial MT"/>
              </a:rPr>
              <a:t>(Graph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spc="-25" dirty="0">
                <a:latin typeface="Arial MT"/>
                <a:cs typeface="Arial MT"/>
              </a:rPr>
              <a:t>Neural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Networks)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34870" y="2362197"/>
            <a:ext cx="1538605" cy="147320"/>
          </a:xfrm>
          <a:custGeom>
            <a:avLst/>
            <a:gdLst/>
            <a:ahLst/>
            <a:cxnLst/>
            <a:rect l="l" t="t" r="r" b="b"/>
            <a:pathLst>
              <a:path w="1538605" h="147319">
                <a:moveTo>
                  <a:pt x="1538251" y="0"/>
                </a:moveTo>
                <a:lnTo>
                  <a:pt x="0" y="0"/>
                </a:lnTo>
                <a:lnTo>
                  <a:pt x="0" y="147263"/>
                </a:lnTo>
                <a:lnTo>
                  <a:pt x="1538251" y="147263"/>
                </a:lnTo>
                <a:lnTo>
                  <a:pt x="1538251" y="0"/>
                </a:lnTo>
                <a:close/>
              </a:path>
            </a:pathLst>
          </a:custGeom>
          <a:solidFill>
            <a:srgbClr val="FFF2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534870" y="2362197"/>
            <a:ext cx="1538605" cy="147320"/>
          </a:xfrm>
          <a:prstGeom prst="rect">
            <a:avLst/>
          </a:prstGeom>
          <a:ln w="5060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50"/>
              </a:spcBef>
            </a:pPr>
            <a:r>
              <a:rPr sz="700" spc="-40" dirty="0">
                <a:latin typeface="Arial MT"/>
                <a:cs typeface="Arial MT"/>
              </a:rPr>
              <a:t>Federated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spc="-30" dirty="0">
                <a:latin typeface="Arial MT"/>
                <a:cs typeface="Arial MT"/>
              </a:rPr>
              <a:t>Learning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spc="-25" dirty="0">
                <a:latin typeface="Arial MT"/>
                <a:cs typeface="Arial MT"/>
              </a:rPr>
              <a:t>(Flower</a:t>
            </a:r>
            <a:r>
              <a:rPr sz="700" spc="10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Framework)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601342" y="2790240"/>
            <a:ext cx="1405890" cy="147320"/>
          </a:xfrm>
          <a:custGeom>
            <a:avLst/>
            <a:gdLst/>
            <a:ahLst/>
            <a:cxnLst/>
            <a:rect l="l" t="t" r="r" b="b"/>
            <a:pathLst>
              <a:path w="1405889" h="147319">
                <a:moveTo>
                  <a:pt x="1405307" y="0"/>
                </a:moveTo>
                <a:lnTo>
                  <a:pt x="0" y="0"/>
                </a:lnTo>
                <a:lnTo>
                  <a:pt x="0" y="147263"/>
                </a:lnTo>
                <a:lnTo>
                  <a:pt x="1405307" y="147263"/>
                </a:lnTo>
                <a:lnTo>
                  <a:pt x="1405307" y="0"/>
                </a:lnTo>
                <a:close/>
              </a:path>
            </a:pathLst>
          </a:custGeom>
          <a:solidFill>
            <a:srgbClr val="F8E5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601342" y="2790240"/>
            <a:ext cx="1405890" cy="147320"/>
          </a:xfrm>
          <a:prstGeom prst="rect">
            <a:avLst/>
          </a:prstGeom>
          <a:ln w="5060">
            <a:solidFill>
              <a:srgbClr val="00000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50"/>
              </a:spcBef>
            </a:pPr>
            <a:r>
              <a:rPr sz="700" dirty="0">
                <a:latin typeface="Arial MT"/>
                <a:cs typeface="Arial MT"/>
              </a:rPr>
              <a:t>Output</a:t>
            </a:r>
            <a:r>
              <a:rPr sz="700" spc="1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(Risk</a:t>
            </a:r>
            <a:r>
              <a:rPr sz="700" spc="15" dirty="0">
                <a:latin typeface="Arial MT"/>
                <a:cs typeface="Arial MT"/>
              </a:rPr>
              <a:t> </a:t>
            </a:r>
            <a:r>
              <a:rPr sz="700" spc="-55" dirty="0">
                <a:latin typeface="Arial MT"/>
                <a:cs typeface="Arial MT"/>
              </a:rPr>
              <a:t>Score</a:t>
            </a:r>
            <a:r>
              <a:rPr sz="700" spc="15" dirty="0">
                <a:latin typeface="Arial MT"/>
                <a:cs typeface="Arial MT"/>
              </a:rPr>
              <a:t> </a:t>
            </a:r>
            <a:r>
              <a:rPr sz="700" spc="125" dirty="0">
                <a:latin typeface="Arial MT"/>
                <a:cs typeface="Arial MT"/>
              </a:rPr>
              <a:t>+</a:t>
            </a:r>
            <a:r>
              <a:rPr sz="700" spc="15" dirty="0">
                <a:latin typeface="Arial MT"/>
                <a:cs typeface="Arial MT"/>
              </a:rPr>
              <a:t> </a:t>
            </a:r>
            <a:r>
              <a:rPr sz="700" spc="-10" dirty="0">
                <a:latin typeface="Arial MT"/>
                <a:cs typeface="Arial MT"/>
              </a:rPr>
              <a:t>Explanations)</a:t>
            </a:r>
            <a:endParaRPr sz="7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281728" y="799139"/>
            <a:ext cx="45085" cy="1989455"/>
            <a:chOff x="2281728" y="799139"/>
            <a:chExt cx="45085" cy="1989455"/>
          </a:xfrm>
        </p:grpSpPr>
        <p:sp>
          <p:nvSpPr>
            <p:cNvPr id="15" name="object 15"/>
            <p:cNvSpPr/>
            <p:nvPr/>
          </p:nvSpPr>
          <p:spPr>
            <a:xfrm>
              <a:off x="2303996" y="799139"/>
              <a:ext cx="0" cy="271780"/>
            </a:xfrm>
            <a:custGeom>
              <a:avLst/>
              <a:gdLst/>
              <a:ahLst/>
              <a:cxnLst/>
              <a:rect l="l" t="t" r="r" b="b"/>
              <a:pathLst>
                <a:path h="271780">
                  <a:moveTo>
                    <a:pt x="1" y="0"/>
                  </a:moveTo>
                  <a:lnTo>
                    <a:pt x="0" y="27139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283752" y="1055346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303997" y="1227158"/>
              <a:ext cx="0" cy="271780"/>
            </a:xfrm>
            <a:custGeom>
              <a:avLst/>
              <a:gdLst/>
              <a:ahLst/>
              <a:cxnLst/>
              <a:rect l="l" t="t" r="r" b="b"/>
              <a:pathLst>
                <a:path h="271780">
                  <a:moveTo>
                    <a:pt x="0" y="0"/>
                  </a:moveTo>
                  <a:lnTo>
                    <a:pt x="0" y="271398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283753" y="1483373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03997" y="1655186"/>
              <a:ext cx="0" cy="271780"/>
            </a:xfrm>
            <a:custGeom>
              <a:avLst/>
              <a:gdLst/>
              <a:ahLst/>
              <a:cxnLst/>
              <a:rect l="l" t="t" r="r" b="b"/>
              <a:pathLst>
                <a:path h="271780">
                  <a:moveTo>
                    <a:pt x="1" y="0"/>
                  </a:moveTo>
                  <a:lnTo>
                    <a:pt x="0" y="271405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283753" y="1911409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303997" y="2083222"/>
              <a:ext cx="0" cy="271780"/>
            </a:xfrm>
            <a:custGeom>
              <a:avLst/>
              <a:gdLst/>
              <a:ahLst/>
              <a:cxnLst/>
              <a:rect l="l" t="t" r="r" b="b"/>
              <a:pathLst>
                <a:path h="271780">
                  <a:moveTo>
                    <a:pt x="1" y="0"/>
                  </a:moveTo>
                  <a:lnTo>
                    <a:pt x="0" y="271413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283753" y="2339452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303996" y="2511265"/>
              <a:ext cx="0" cy="271780"/>
            </a:xfrm>
            <a:custGeom>
              <a:avLst/>
              <a:gdLst/>
              <a:ahLst/>
              <a:cxnLst/>
              <a:rect l="l" t="t" r="r" b="b"/>
              <a:pathLst>
                <a:path h="271780">
                  <a:moveTo>
                    <a:pt x="1" y="0"/>
                  </a:moveTo>
                  <a:lnTo>
                    <a:pt x="0" y="271421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283752" y="2767504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40487" y="0"/>
                  </a:moveTo>
                  <a:lnTo>
                    <a:pt x="34300" y="2965"/>
                  </a:lnTo>
                  <a:lnTo>
                    <a:pt x="27993" y="8540"/>
                  </a:lnTo>
                  <a:lnTo>
                    <a:pt x="22873" y="14589"/>
                  </a:lnTo>
                  <a:lnTo>
                    <a:pt x="20243" y="18978"/>
                  </a:lnTo>
                  <a:lnTo>
                    <a:pt x="17614" y="14589"/>
                  </a:lnTo>
                  <a:lnTo>
                    <a:pt x="12494" y="8540"/>
                  </a:lnTo>
                  <a:lnTo>
                    <a:pt x="6187" y="2965"/>
                  </a:lnTo>
                  <a:lnTo>
                    <a:pt x="0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0" y="3364319"/>
            <a:ext cx="4608195" cy="92075"/>
            <a:chOff x="0" y="3364319"/>
            <a:chExt cx="4608195" cy="92075"/>
          </a:xfrm>
        </p:grpSpPr>
        <p:sp>
          <p:nvSpPr>
            <p:cNvPr id="26" name="object 26"/>
            <p:cNvSpPr/>
            <p:nvPr/>
          </p:nvSpPr>
          <p:spPr>
            <a:xfrm>
              <a:off x="0" y="3364319"/>
              <a:ext cx="1536065" cy="92075"/>
            </a:xfrm>
            <a:custGeom>
              <a:avLst/>
              <a:gdLst/>
              <a:ahLst/>
              <a:cxnLst/>
              <a:rect l="l" t="t" r="r" b="b"/>
              <a:pathLst>
                <a:path w="1536065" h="92075">
                  <a:moveTo>
                    <a:pt x="1535976" y="0"/>
                  </a:moveTo>
                  <a:lnTo>
                    <a:pt x="0" y="0"/>
                  </a:lnTo>
                  <a:lnTo>
                    <a:pt x="0" y="91681"/>
                  </a:lnTo>
                  <a:lnTo>
                    <a:pt x="1535976" y="9168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35976" y="3364319"/>
              <a:ext cx="1536065" cy="92075"/>
            </a:xfrm>
            <a:custGeom>
              <a:avLst/>
              <a:gdLst/>
              <a:ahLst/>
              <a:cxnLst/>
              <a:rect l="l" t="t" r="r" b="b"/>
              <a:pathLst>
                <a:path w="1536064" h="92075">
                  <a:moveTo>
                    <a:pt x="1535976" y="0"/>
                  </a:moveTo>
                  <a:lnTo>
                    <a:pt x="0" y="0"/>
                  </a:lnTo>
                  <a:lnTo>
                    <a:pt x="0" y="91681"/>
                  </a:lnTo>
                  <a:lnTo>
                    <a:pt x="1535976" y="9168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071952" y="3364319"/>
              <a:ext cx="1536065" cy="92075"/>
            </a:xfrm>
            <a:custGeom>
              <a:avLst/>
              <a:gdLst/>
              <a:ahLst/>
              <a:cxnLst/>
              <a:rect l="l" t="t" r="r" b="b"/>
              <a:pathLst>
                <a:path w="1536064" h="92075">
                  <a:moveTo>
                    <a:pt x="1535976" y="0"/>
                  </a:moveTo>
                  <a:lnTo>
                    <a:pt x="0" y="0"/>
                  </a:lnTo>
                  <a:lnTo>
                    <a:pt x="0" y="91681"/>
                  </a:lnTo>
                  <a:lnTo>
                    <a:pt x="1535976" y="9168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Group</a:t>
            </a:r>
            <a:r>
              <a:rPr spc="55" dirty="0"/>
              <a:t> </a:t>
            </a:r>
            <a:r>
              <a:rPr dirty="0"/>
              <a:t>50</a:t>
            </a:r>
            <a:r>
              <a:rPr spc="290" dirty="0"/>
              <a:t> </a:t>
            </a:r>
            <a:r>
              <a:rPr spc="45" dirty="0"/>
              <a:t>(JSSATEB)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1964435" y="3352906"/>
            <a:ext cx="679450" cy="111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00" dirty="0">
                <a:solidFill>
                  <a:srgbClr val="FFFFFF"/>
                </a:solidFill>
                <a:latin typeface="Verdana"/>
                <a:cs typeface="Verdana"/>
                <a:hlinkClick r:id="rId2" action="ppaction://hlinksldjump"/>
              </a:rPr>
              <a:t>Privacy</a:t>
            </a:r>
            <a:r>
              <a:rPr sz="500" spc="125" dirty="0">
                <a:solidFill>
                  <a:srgbClr val="FFFFFF"/>
                </a:solidFill>
                <a:latin typeface="Verdana"/>
                <a:cs typeface="Verdana"/>
                <a:hlinkClick r:id="rId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Verdana"/>
                <a:cs typeface="Verdana"/>
                <a:hlinkClick r:id="rId2" action="ppaction://hlinksldjump"/>
              </a:rPr>
              <a:t>Masked</a:t>
            </a:r>
            <a:r>
              <a:rPr sz="500" spc="125" dirty="0">
                <a:solidFill>
                  <a:srgbClr val="FFFFFF"/>
                </a:solidFill>
                <a:latin typeface="Verdana"/>
                <a:cs typeface="Verdana"/>
                <a:hlinkClick r:id="rId2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Verdana"/>
                <a:cs typeface="Verdana"/>
                <a:hlinkClick r:id="rId2" action="ppaction://hlinksldjump"/>
              </a:rPr>
              <a:t>FL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May</a:t>
            </a:r>
            <a:r>
              <a:rPr spc="70" dirty="0"/>
              <a:t> </a:t>
            </a:r>
            <a:r>
              <a:rPr dirty="0"/>
              <a:t>8,</a:t>
            </a:r>
            <a:r>
              <a:rPr spc="75" dirty="0"/>
              <a:t> </a:t>
            </a:r>
            <a:r>
              <a:rPr spc="-20" dirty="0"/>
              <a:t>2026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dirty="0"/>
              <a:t>6</a:t>
            </a:fld>
            <a:r>
              <a:rPr spc="-65" dirty="0"/>
              <a:t> </a:t>
            </a:r>
            <a:r>
              <a:rPr spc="90" dirty="0"/>
              <a:t>/</a:t>
            </a:r>
            <a:r>
              <a:rPr spc="-6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0" dirty="0"/>
              <a:t>System</a:t>
            </a:r>
            <a:r>
              <a:rPr spc="30" dirty="0"/>
              <a:t> </a:t>
            </a:r>
            <a:r>
              <a:rPr spc="-35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17" y="1216482"/>
            <a:ext cx="59588" cy="5958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42493" rIns="0" bIns="0" rtlCol="0">
            <a:spAutoFit/>
          </a:bodyPr>
          <a:lstStyle/>
          <a:p>
            <a:pPr marL="265430">
              <a:lnSpc>
                <a:spcPct val="100000"/>
              </a:lnSpc>
              <a:spcBef>
                <a:spcPts val="395"/>
              </a:spcBef>
            </a:pPr>
            <a:r>
              <a:rPr b="1" spc="-25" dirty="0">
                <a:latin typeface="Arial"/>
                <a:cs typeface="Arial"/>
              </a:rPr>
              <a:t>Privacy</a:t>
            </a:r>
            <a:r>
              <a:rPr b="1" spc="35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Layer</a:t>
            </a:r>
            <a:r>
              <a:rPr spc="-25" dirty="0"/>
              <a:t>:</a:t>
            </a:r>
            <a:r>
              <a:rPr spc="100" dirty="0"/>
              <a:t> </a:t>
            </a:r>
            <a:r>
              <a:rPr spc="-20" dirty="0"/>
              <a:t>Local</a:t>
            </a:r>
            <a:r>
              <a:rPr spc="5" dirty="0"/>
              <a:t> </a:t>
            </a:r>
            <a:r>
              <a:rPr spc="-60" dirty="0"/>
              <a:t>processing</a:t>
            </a:r>
            <a:r>
              <a:rPr spc="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spc="-60" dirty="0"/>
              <a:t>mask</a:t>
            </a:r>
            <a:r>
              <a:rPr spc="5" dirty="0"/>
              <a:t> </a:t>
            </a:r>
            <a:r>
              <a:rPr dirty="0"/>
              <a:t>PII</a:t>
            </a:r>
            <a:r>
              <a:rPr spc="5" dirty="0"/>
              <a:t> </a:t>
            </a:r>
            <a:r>
              <a:rPr spc="-35" dirty="0"/>
              <a:t>using</a:t>
            </a:r>
            <a:r>
              <a:rPr spc="5" dirty="0"/>
              <a:t> </a:t>
            </a:r>
            <a:r>
              <a:rPr spc="-10" dirty="0"/>
              <a:t>spaCy/BERT.</a:t>
            </a: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b="1" spc="-10" dirty="0">
                <a:latin typeface="Arial"/>
                <a:cs typeface="Arial"/>
              </a:rPr>
              <a:t>Feature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Extraction</a:t>
            </a:r>
            <a:r>
              <a:rPr spc="-10" dirty="0"/>
              <a:t>:</a:t>
            </a:r>
            <a:r>
              <a:rPr spc="75" dirty="0"/>
              <a:t> </a:t>
            </a:r>
            <a:r>
              <a:rPr spc="-10" dirty="0"/>
              <a:t>Multimodal</a:t>
            </a:r>
            <a:r>
              <a:rPr spc="-15" dirty="0"/>
              <a:t> </a:t>
            </a:r>
            <a:r>
              <a:rPr spc="-60" dirty="0"/>
              <a:t>processing</a:t>
            </a:r>
            <a:r>
              <a:rPr spc="-10" dirty="0"/>
              <a:t> </a:t>
            </a:r>
            <a:r>
              <a:rPr dirty="0"/>
              <a:t>via</a:t>
            </a:r>
            <a:r>
              <a:rPr spc="-15" dirty="0"/>
              <a:t> </a:t>
            </a:r>
            <a:r>
              <a:rPr dirty="0"/>
              <a:t>BiLSTM</a:t>
            </a:r>
            <a:r>
              <a:rPr spc="-15" dirty="0"/>
              <a:t> </a:t>
            </a:r>
            <a:r>
              <a:rPr spc="-20" dirty="0"/>
              <a:t>and</a:t>
            </a:r>
            <a:r>
              <a:rPr spc="-15" dirty="0"/>
              <a:t> </a:t>
            </a:r>
            <a:r>
              <a:rPr spc="-10" dirty="0"/>
              <a:t>Transformers.</a:t>
            </a:r>
          </a:p>
          <a:p>
            <a:pPr marL="265430" marR="412750">
              <a:lnSpc>
                <a:spcPct val="100000"/>
              </a:lnSpc>
              <a:spcBef>
                <a:spcPts val="290"/>
              </a:spcBef>
            </a:pPr>
            <a:r>
              <a:rPr b="1" dirty="0">
                <a:latin typeface="Arial"/>
                <a:cs typeface="Arial"/>
              </a:rPr>
              <a:t>Multimodal</a:t>
            </a:r>
            <a:r>
              <a:rPr b="1" spc="10" dirty="0">
                <a:latin typeface="Arial"/>
                <a:cs typeface="Arial"/>
              </a:rPr>
              <a:t> </a:t>
            </a:r>
            <a:r>
              <a:rPr b="1" spc="-50" dirty="0">
                <a:latin typeface="Arial"/>
                <a:cs typeface="Arial"/>
              </a:rPr>
              <a:t>Fusion</a:t>
            </a:r>
            <a:r>
              <a:rPr b="1" spc="10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Layer</a:t>
            </a:r>
            <a:r>
              <a:rPr spc="-25" dirty="0"/>
              <a:t>:</a:t>
            </a:r>
            <a:r>
              <a:rPr spc="75" dirty="0"/>
              <a:t> </a:t>
            </a:r>
            <a:r>
              <a:rPr spc="-20" dirty="0"/>
              <a:t>Integrating</a:t>
            </a:r>
            <a:r>
              <a:rPr spc="-15" dirty="0"/>
              <a:t> </a:t>
            </a:r>
            <a:r>
              <a:rPr spc="-40" dirty="0"/>
              <a:t>features</a:t>
            </a:r>
            <a:r>
              <a:rPr spc="-20" dirty="0"/>
              <a:t> </a:t>
            </a:r>
            <a:r>
              <a:rPr spc="-35" dirty="0"/>
              <a:t>using</a:t>
            </a:r>
            <a:r>
              <a:rPr dirty="0"/>
              <a:t> </a:t>
            </a:r>
            <a:r>
              <a:rPr b="1" spc="-25" dirty="0">
                <a:latin typeface="Arial"/>
                <a:cs typeface="Arial"/>
              </a:rPr>
              <a:t>Graph</a:t>
            </a:r>
            <a:r>
              <a:rPr b="1" spc="1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Neural </a:t>
            </a:r>
            <a:r>
              <a:rPr b="1" spc="-30" dirty="0">
                <a:latin typeface="Arial"/>
                <a:cs typeface="Arial"/>
              </a:rPr>
              <a:t>Networks</a:t>
            </a:r>
            <a:r>
              <a:rPr b="1" spc="1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(GNN)</a:t>
            </a:r>
            <a:r>
              <a:rPr spc="-10" dirty="0"/>
              <a:t>.</a:t>
            </a:r>
          </a:p>
          <a:p>
            <a:pPr marL="265430">
              <a:lnSpc>
                <a:spcPct val="100000"/>
              </a:lnSpc>
              <a:spcBef>
                <a:spcPts val="290"/>
              </a:spcBef>
            </a:pPr>
            <a:r>
              <a:rPr b="1" spc="-25" dirty="0">
                <a:latin typeface="Arial"/>
                <a:cs typeface="Arial"/>
              </a:rPr>
              <a:t>Federated</a:t>
            </a:r>
            <a:r>
              <a:rPr b="1" dirty="0">
                <a:latin typeface="Arial"/>
                <a:cs typeface="Arial"/>
              </a:rPr>
              <a:t> </a:t>
            </a:r>
            <a:r>
              <a:rPr b="1" spc="-40" dirty="0">
                <a:latin typeface="Arial"/>
                <a:cs typeface="Arial"/>
              </a:rPr>
              <a:t>Learning</a:t>
            </a:r>
            <a:r>
              <a:rPr b="1" spc="5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Layer</a:t>
            </a:r>
            <a:r>
              <a:rPr spc="-25" dirty="0"/>
              <a:t>:</a:t>
            </a:r>
            <a:r>
              <a:rPr spc="80" dirty="0"/>
              <a:t> </a:t>
            </a:r>
            <a:r>
              <a:rPr spc="-20" dirty="0"/>
              <a:t>Distributed </a:t>
            </a:r>
            <a:r>
              <a:rPr spc="-10" dirty="0"/>
              <a:t>training</a:t>
            </a:r>
            <a:r>
              <a:rPr spc="-20" dirty="0"/>
              <a:t> </a:t>
            </a:r>
            <a:r>
              <a:rPr spc="-40" dirty="0"/>
              <a:t>using</a:t>
            </a:r>
            <a:r>
              <a:rPr spc="-2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spc="-55" dirty="0"/>
              <a:t>Flower</a:t>
            </a:r>
            <a:r>
              <a:rPr spc="-15" dirty="0"/>
              <a:t> </a:t>
            </a:r>
            <a:r>
              <a:rPr spc="-10" dirty="0"/>
              <a:t>framework.</a:t>
            </a: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b="1" spc="-30" dirty="0">
                <a:latin typeface="Arial"/>
                <a:cs typeface="Arial"/>
              </a:rPr>
              <a:t>Explainability</a:t>
            </a:r>
            <a:r>
              <a:rPr b="1" spc="45" dirty="0">
                <a:latin typeface="Arial"/>
                <a:cs typeface="Arial"/>
              </a:rPr>
              <a:t> </a:t>
            </a:r>
            <a:r>
              <a:rPr b="1" spc="-25" dirty="0">
                <a:latin typeface="Arial"/>
                <a:cs typeface="Arial"/>
              </a:rPr>
              <a:t>Layer</a:t>
            </a:r>
            <a:r>
              <a:rPr spc="-25" dirty="0"/>
              <a:t>:</a:t>
            </a:r>
            <a:r>
              <a:rPr spc="110" dirty="0"/>
              <a:t> </a:t>
            </a:r>
            <a:r>
              <a:rPr spc="-30" dirty="0"/>
              <a:t>Counterfactual</a:t>
            </a:r>
            <a:r>
              <a:rPr spc="15" dirty="0"/>
              <a:t> </a:t>
            </a:r>
            <a:r>
              <a:rPr spc="-25" dirty="0"/>
              <a:t>insights</a:t>
            </a:r>
            <a:r>
              <a:rPr spc="15" dirty="0"/>
              <a:t> </a:t>
            </a:r>
            <a:r>
              <a:rPr spc="-25" dirty="0"/>
              <a:t>and</a:t>
            </a:r>
            <a:r>
              <a:rPr spc="15" dirty="0"/>
              <a:t> </a:t>
            </a:r>
            <a:r>
              <a:rPr spc="-70" dirty="0"/>
              <a:t>Causal</a:t>
            </a:r>
            <a:r>
              <a:rPr spc="15" dirty="0"/>
              <a:t> </a:t>
            </a:r>
            <a:r>
              <a:rPr dirty="0"/>
              <a:t>AI</a:t>
            </a:r>
            <a:r>
              <a:rPr spc="10" dirty="0"/>
              <a:t> </a:t>
            </a:r>
            <a:r>
              <a:rPr spc="-10" dirty="0"/>
              <a:t>(DoWhy).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17" y="1406271"/>
            <a:ext cx="59588" cy="5958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717" y="1596059"/>
            <a:ext cx="59588" cy="5958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6717" y="1937677"/>
            <a:ext cx="59588" cy="5958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6717" y="2127466"/>
            <a:ext cx="59588" cy="59588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64319"/>
            <a:ext cx="4608195" cy="92075"/>
            <a:chOff x="0" y="3364319"/>
            <a:chExt cx="4608195" cy="92075"/>
          </a:xfrm>
        </p:grpSpPr>
        <p:sp>
          <p:nvSpPr>
            <p:cNvPr id="10" name="object 10"/>
            <p:cNvSpPr/>
            <p:nvPr/>
          </p:nvSpPr>
          <p:spPr>
            <a:xfrm>
              <a:off x="0" y="3364319"/>
              <a:ext cx="1536065" cy="92075"/>
            </a:xfrm>
            <a:custGeom>
              <a:avLst/>
              <a:gdLst/>
              <a:ahLst/>
              <a:cxnLst/>
              <a:rect l="l" t="t" r="r" b="b"/>
              <a:pathLst>
                <a:path w="1536065" h="92075">
                  <a:moveTo>
                    <a:pt x="1535976" y="0"/>
                  </a:moveTo>
                  <a:lnTo>
                    <a:pt x="0" y="0"/>
                  </a:lnTo>
                  <a:lnTo>
                    <a:pt x="0" y="91681"/>
                  </a:lnTo>
                  <a:lnTo>
                    <a:pt x="1535976" y="9168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64319"/>
              <a:ext cx="1536065" cy="92075"/>
            </a:xfrm>
            <a:custGeom>
              <a:avLst/>
              <a:gdLst/>
              <a:ahLst/>
              <a:cxnLst/>
              <a:rect l="l" t="t" r="r" b="b"/>
              <a:pathLst>
                <a:path w="1536064" h="92075">
                  <a:moveTo>
                    <a:pt x="1535976" y="0"/>
                  </a:moveTo>
                  <a:lnTo>
                    <a:pt x="0" y="0"/>
                  </a:lnTo>
                  <a:lnTo>
                    <a:pt x="0" y="91681"/>
                  </a:lnTo>
                  <a:lnTo>
                    <a:pt x="1535976" y="9168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64319"/>
              <a:ext cx="1536065" cy="92075"/>
            </a:xfrm>
            <a:custGeom>
              <a:avLst/>
              <a:gdLst/>
              <a:ahLst/>
              <a:cxnLst/>
              <a:rect l="l" t="t" r="r" b="b"/>
              <a:pathLst>
                <a:path w="1536064" h="92075">
                  <a:moveTo>
                    <a:pt x="1535976" y="0"/>
                  </a:moveTo>
                  <a:lnTo>
                    <a:pt x="0" y="0"/>
                  </a:lnTo>
                  <a:lnTo>
                    <a:pt x="0" y="91681"/>
                  </a:lnTo>
                  <a:lnTo>
                    <a:pt x="1535976" y="9168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Group</a:t>
            </a:r>
            <a:r>
              <a:rPr spc="55" dirty="0"/>
              <a:t> </a:t>
            </a:r>
            <a:r>
              <a:rPr dirty="0"/>
              <a:t>50</a:t>
            </a:r>
            <a:r>
              <a:rPr spc="290" dirty="0"/>
              <a:t> </a:t>
            </a:r>
            <a:r>
              <a:rPr spc="45" dirty="0"/>
              <a:t>(JSSATEB)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964435" y="3352906"/>
            <a:ext cx="679450" cy="111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00" dirty="0">
                <a:solidFill>
                  <a:srgbClr val="FFFFFF"/>
                </a:solidFill>
                <a:latin typeface="Verdana"/>
                <a:cs typeface="Verdana"/>
                <a:hlinkClick r:id="rId7" action="ppaction://hlinksldjump"/>
              </a:rPr>
              <a:t>Privacy</a:t>
            </a:r>
            <a:r>
              <a:rPr sz="500" spc="125" dirty="0">
                <a:solidFill>
                  <a:srgbClr val="FFFFFF"/>
                </a:solidFill>
                <a:latin typeface="Verdana"/>
                <a:cs typeface="Verdana"/>
                <a:hlinkClick r:id="rId7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Verdana"/>
                <a:cs typeface="Verdana"/>
                <a:hlinkClick r:id="rId7" action="ppaction://hlinksldjump"/>
              </a:rPr>
              <a:t>Masked</a:t>
            </a:r>
            <a:r>
              <a:rPr sz="500" spc="125" dirty="0">
                <a:solidFill>
                  <a:srgbClr val="FFFFFF"/>
                </a:solidFill>
                <a:latin typeface="Verdana"/>
                <a:cs typeface="Verdana"/>
                <a:hlinkClick r:id="rId7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Verdana"/>
                <a:cs typeface="Verdana"/>
                <a:hlinkClick r:id="rId7" action="ppaction://hlinksldjump"/>
              </a:rPr>
              <a:t>FL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May</a:t>
            </a:r>
            <a:r>
              <a:rPr spc="70" dirty="0"/>
              <a:t> </a:t>
            </a:r>
            <a:r>
              <a:rPr dirty="0"/>
              <a:t>8,</a:t>
            </a:r>
            <a:r>
              <a:rPr spc="75" dirty="0"/>
              <a:t> </a:t>
            </a:r>
            <a:r>
              <a:rPr spc="-20" dirty="0"/>
              <a:t>2026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dirty="0"/>
              <a:t>7</a:t>
            </a:fld>
            <a:r>
              <a:rPr spc="-65" dirty="0"/>
              <a:t> </a:t>
            </a:r>
            <a:r>
              <a:rPr spc="90" dirty="0"/>
              <a:t>/</a:t>
            </a:r>
            <a:r>
              <a:rPr spc="-6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354330"/>
          </a:xfrm>
          <a:custGeom>
            <a:avLst/>
            <a:gdLst/>
            <a:ahLst/>
            <a:cxnLst/>
            <a:rect l="l" t="t" r="r" b="b"/>
            <a:pathLst>
              <a:path w="4608195" h="354330">
                <a:moveTo>
                  <a:pt x="4608004" y="0"/>
                </a:moveTo>
                <a:lnTo>
                  <a:pt x="0" y="0"/>
                </a:lnTo>
                <a:lnTo>
                  <a:pt x="0" y="354152"/>
                </a:lnTo>
                <a:lnTo>
                  <a:pt x="4608004" y="354152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61884"/>
            <a:ext cx="21780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Literature</a:t>
            </a:r>
            <a:r>
              <a:rPr sz="14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90" dirty="0">
                <a:solidFill>
                  <a:srgbClr val="FFFFFF"/>
                </a:solidFill>
                <a:latin typeface="Arial MT"/>
                <a:cs typeface="Arial MT"/>
              </a:rPr>
              <a:t>Survey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80" dirty="0">
                <a:solidFill>
                  <a:srgbClr val="FFFFFF"/>
                </a:solidFill>
                <a:latin typeface="Arial MT"/>
                <a:cs typeface="Arial MT"/>
              </a:rPr>
              <a:t>Comparison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7295" y="504220"/>
            <a:ext cx="3073344" cy="2650891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64319"/>
            <a:ext cx="4608195" cy="92075"/>
            <a:chOff x="0" y="3364319"/>
            <a:chExt cx="4608195" cy="92075"/>
          </a:xfrm>
        </p:grpSpPr>
        <p:sp>
          <p:nvSpPr>
            <p:cNvPr id="6" name="object 6"/>
            <p:cNvSpPr/>
            <p:nvPr/>
          </p:nvSpPr>
          <p:spPr>
            <a:xfrm>
              <a:off x="0" y="3364319"/>
              <a:ext cx="1536065" cy="92075"/>
            </a:xfrm>
            <a:custGeom>
              <a:avLst/>
              <a:gdLst/>
              <a:ahLst/>
              <a:cxnLst/>
              <a:rect l="l" t="t" r="r" b="b"/>
              <a:pathLst>
                <a:path w="1536065" h="92075">
                  <a:moveTo>
                    <a:pt x="1535976" y="0"/>
                  </a:moveTo>
                  <a:lnTo>
                    <a:pt x="0" y="0"/>
                  </a:lnTo>
                  <a:lnTo>
                    <a:pt x="0" y="91681"/>
                  </a:lnTo>
                  <a:lnTo>
                    <a:pt x="1535976" y="9168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64319"/>
              <a:ext cx="1536065" cy="92075"/>
            </a:xfrm>
            <a:custGeom>
              <a:avLst/>
              <a:gdLst/>
              <a:ahLst/>
              <a:cxnLst/>
              <a:rect l="l" t="t" r="r" b="b"/>
              <a:pathLst>
                <a:path w="1536064" h="92075">
                  <a:moveTo>
                    <a:pt x="1535976" y="0"/>
                  </a:moveTo>
                  <a:lnTo>
                    <a:pt x="0" y="0"/>
                  </a:lnTo>
                  <a:lnTo>
                    <a:pt x="0" y="91681"/>
                  </a:lnTo>
                  <a:lnTo>
                    <a:pt x="1535976" y="9168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64319"/>
              <a:ext cx="1536065" cy="92075"/>
            </a:xfrm>
            <a:custGeom>
              <a:avLst/>
              <a:gdLst/>
              <a:ahLst/>
              <a:cxnLst/>
              <a:rect l="l" t="t" r="r" b="b"/>
              <a:pathLst>
                <a:path w="1536064" h="92075">
                  <a:moveTo>
                    <a:pt x="1535976" y="0"/>
                  </a:moveTo>
                  <a:lnTo>
                    <a:pt x="0" y="0"/>
                  </a:lnTo>
                  <a:lnTo>
                    <a:pt x="0" y="91681"/>
                  </a:lnTo>
                  <a:lnTo>
                    <a:pt x="1535976" y="9168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Group</a:t>
            </a:r>
            <a:r>
              <a:rPr spc="55" dirty="0"/>
              <a:t> </a:t>
            </a:r>
            <a:r>
              <a:rPr dirty="0"/>
              <a:t>50</a:t>
            </a:r>
            <a:r>
              <a:rPr spc="290" dirty="0"/>
              <a:t> </a:t>
            </a:r>
            <a:r>
              <a:rPr spc="45" dirty="0"/>
              <a:t>(JSSATEB)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964435" y="3352906"/>
            <a:ext cx="679450" cy="111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00" dirty="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Privacy</a:t>
            </a:r>
            <a:r>
              <a:rPr sz="500" spc="125" dirty="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Masked</a:t>
            </a:r>
            <a:r>
              <a:rPr sz="500" spc="125" dirty="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Verdana"/>
                <a:cs typeface="Verdana"/>
                <a:hlinkClick r:id="rId3" action="ppaction://hlinksldjump"/>
              </a:rPr>
              <a:t>FL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May</a:t>
            </a:r>
            <a:r>
              <a:rPr spc="70" dirty="0"/>
              <a:t> </a:t>
            </a:r>
            <a:r>
              <a:rPr dirty="0"/>
              <a:t>8,</a:t>
            </a:r>
            <a:r>
              <a:rPr spc="75" dirty="0"/>
              <a:t> </a:t>
            </a:r>
            <a:r>
              <a:rPr spc="-20" dirty="0"/>
              <a:t>2026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dirty="0"/>
              <a:t>8</a:t>
            </a:fld>
            <a:r>
              <a:rPr spc="-65" dirty="0"/>
              <a:t> </a:t>
            </a:r>
            <a:r>
              <a:rPr spc="90" dirty="0"/>
              <a:t>/</a:t>
            </a:r>
            <a:r>
              <a:rPr spc="-6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00" y="61884"/>
            <a:ext cx="158686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85" dirty="0"/>
              <a:t>Technologies</a:t>
            </a:r>
            <a:r>
              <a:rPr spc="25" dirty="0"/>
              <a:t> </a:t>
            </a:r>
            <a:r>
              <a:rPr spc="90" dirty="0"/>
              <a:t>&amp;</a:t>
            </a:r>
            <a:r>
              <a:rPr spc="30" dirty="0"/>
              <a:t> </a:t>
            </a:r>
            <a:r>
              <a:rPr spc="-50" dirty="0"/>
              <a:t>Tools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541" y="1430629"/>
            <a:ext cx="59588" cy="595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541" y="1620418"/>
            <a:ext cx="59588" cy="595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4541" y="1810207"/>
            <a:ext cx="59588" cy="5958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4541" y="1999996"/>
            <a:ext cx="59588" cy="5958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1653" y="1125772"/>
            <a:ext cx="1462405" cy="97472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b="1" dirty="0">
                <a:latin typeface="Arial"/>
                <a:cs typeface="Arial"/>
              </a:rPr>
              <a:t>AI</a:t>
            </a:r>
            <a:r>
              <a:rPr sz="1000" b="1" spc="105" dirty="0">
                <a:latin typeface="Arial"/>
                <a:cs typeface="Arial"/>
              </a:rPr>
              <a:t> </a:t>
            </a:r>
            <a:r>
              <a:rPr sz="1000" b="1" spc="100" dirty="0">
                <a:latin typeface="Arial"/>
                <a:cs typeface="Arial"/>
              </a:rPr>
              <a:t>&amp;</a:t>
            </a:r>
            <a:r>
              <a:rPr sz="1000" b="1" spc="110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Privacy</a:t>
            </a:r>
            <a:r>
              <a:rPr sz="1000" spc="-10" dirty="0">
                <a:latin typeface="Arial MT"/>
                <a:cs typeface="Arial MT"/>
              </a:rPr>
              <a:t>:</a:t>
            </a:r>
            <a:endParaRPr sz="1000">
              <a:latin typeface="Arial MT"/>
              <a:cs typeface="Arial MT"/>
            </a:endParaRPr>
          </a:p>
          <a:p>
            <a:pPr marL="265430" marR="5080">
              <a:lnSpc>
                <a:spcPct val="124500"/>
              </a:lnSpc>
            </a:pPr>
            <a:r>
              <a:rPr sz="1000" spc="-35" dirty="0">
                <a:latin typeface="Arial MT"/>
                <a:cs typeface="Arial MT"/>
              </a:rPr>
              <a:t>PyTorch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220" dirty="0">
                <a:latin typeface="Arial MT"/>
                <a:cs typeface="Arial MT"/>
              </a:rPr>
              <a:t>/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TensorFlow </a:t>
            </a:r>
            <a:r>
              <a:rPr sz="1000" spc="-45" dirty="0">
                <a:latin typeface="Arial MT"/>
                <a:cs typeface="Arial MT"/>
              </a:rPr>
              <a:t>Flower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(FL)</a:t>
            </a:r>
            <a:endParaRPr sz="1000">
              <a:latin typeface="Arial MT"/>
              <a:cs typeface="Arial MT"/>
            </a:endParaRPr>
          </a:p>
          <a:p>
            <a:pPr marL="265430" marR="12065">
              <a:lnSpc>
                <a:spcPct val="124500"/>
              </a:lnSpc>
            </a:pPr>
            <a:r>
              <a:rPr sz="1000" spc="-70" dirty="0">
                <a:latin typeface="Arial MT"/>
                <a:cs typeface="Arial MT"/>
              </a:rPr>
              <a:t>spaCy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220" dirty="0">
                <a:latin typeface="Arial MT"/>
                <a:cs typeface="Arial MT"/>
              </a:rPr>
              <a:t>/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BERT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(NER) </a:t>
            </a:r>
            <a:r>
              <a:rPr sz="1000" spc="-20" dirty="0">
                <a:latin typeface="Arial MT"/>
                <a:cs typeface="Arial MT"/>
              </a:rPr>
              <a:t>DiCE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220" dirty="0">
                <a:latin typeface="Arial MT"/>
                <a:cs typeface="Arial MT"/>
              </a:rPr>
              <a:t>/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DoWhy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(XAI)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76372" y="1430629"/>
            <a:ext cx="59588" cy="5958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76372" y="1620418"/>
            <a:ext cx="59588" cy="5958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76372" y="1810207"/>
            <a:ext cx="59588" cy="5958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476372" y="1999996"/>
            <a:ext cx="59588" cy="5958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333472" y="1125772"/>
            <a:ext cx="1551940" cy="97472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b="1" dirty="0">
                <a:latin typeface="Arial"/>
                <a:cs typeface="Arial"/>
              </a:rPr>
              <a:t>Web</a:t>
            </a:r>
            <a:r>
              <a:rPr sz="1000" b="1" spc="50" dirty="0">
                <a:latin typeface="Arial"/>
                <a:cs typeface="Arial"/>
              </a:rPr>
              <a:t> </a:t>
            </a:r>
            <a:r>
              <a:rPr sz="1000" b="1" spc="100" dirty="0">
                <a:latin typeface="Arial"/>
                <a:cs typeface="Arial"/>
              </a:rPr>
              <a:t>&amp;</a:t>
            </a:r>
            <a:r>
              <a:rPr sz="1000" b="1" spc="55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Data</a:t>
            </a:r>
            <a:r>
              <a:rPr sz="1000" spc="-10" dirty="0">
                <a:latin typeface="Arial MT"/>
                <a:cs typeface="Arial MT"/>
              </a:rPr>
              <a:t>:</a:t>
            </a:r>
            <a:endParaRPr sz="1000">
              <a:latin typeface="Arial MT"/>
              <a:cs typeface="Arial MT"/>
            </a:endParaRPr>
          </a:p>
          <a:p>
            <a:pPr marL="265430" marR="5080">
              <a:lnSpc>
                <a:spcPct val="124500"/>
              </a:lnSpc>
            </a:pPr>
            <a:r>
              <a:rPr sz="1000" spc="-10" dirty="0">
                <a:latin typeface="Arial MT"/>
                <a:cs typeface="Arial MT"/>
              </a:rPr>
              <a:t>Python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220" dirty="0">
                <a:latin typeface="Arial MT"/>
                <a:cs typeface="Arial MT"/>
              </a:rPr>
              <a:t>/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FastAPI </a:t>
            </a:r>
            <a:r>
              <a:rPr sz="1000" spc="-35" dirty="0">
                <a:latin typeface="Arial MT"/>
                <a:cs typeface="Arial MT"/>
              </a:rPr>
              <a:t>React.js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220" dirty="0">
                <a:latin typeface="Arial MT"/>
                <a:cs typeface="Arial MT"/>
              </a:rPr>
              <a:t>/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Tailwind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95" dirty="0">
                <a:latin typeface="Arial MT"/>
                <a:cs typeface="Arial MT"/>
              </a:rPr>
              <a:t>CSS</a:t>
            </a:r>
            <a:r>
              <a:rPr sz="1000" spc="-20" dirty="0">
                <a:latin typeface="Arial MT"/>
                <a:cs typeface="Arial MT"/>
              </a:rPr>
              <a:t> MongoDB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220" dirty="0">
                <a:latin typeface="Arial MT"/>
                <a:cs typeface="Arial MT"/>
              </a:rPr>
              <a:t>/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MySQL </a:t>
            </a:r>
            <a:r>
              <a:rPr sz="1000" dirty="0">
                <a:latin typeface="Arial MT"/>
                <a:cs typeface="Arial MT"/>
              </a:rPr>
              <a:t>Plotly</a:t>
            </a:r>
            <a:r>
              <a:rPr sz="1000" spc="35" dirty="0">
                <a:latin typeface="Arial MT"/>
                <a:cs typeface="Arial MT"/>
              </a:rPr>
              <a:t> </a:t>
            </a:r>
            <a:r>
              <a:rPr sz="1000" spc="220" dirty="0">
                <a:latin typeface="Arial MT"/>
                <a:cs typeface="Arial MT"/>
              </a:rPr>
              <a:t>/</a:t>
            </a:r>
            <a:r>
              <a:rPr sz="1000" spc="4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Streamlit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364319"/>
            <a:ext cx="4608195" cy="92075"/>
            <a:chOff x="0" y="3364319"/>
            <a:chExt cx="4608195" cy="92075"/>
          </a:xfrm>
        </p:grpSpPr>
        <p:sp>
          <p:nvSpPr>
            <p:cNvPr id="14" name="object 14"/>
            <p:cNvSpPr/>
            <p:nvPr/>
          </p:nvSpPr>
          <p:spPr>
            <a:xfrm>
              <a:off x="0" y="3364319"/>
              <a:ext cx="1536065" cy="92075"/>
            </a:xfrm>
            <a:custGeom>
              <a:avLst/>
              <a:gdLst/>
              <a:ahLst/>
              <a:cxnLst/>
              <a:rect l="l" t="t" r="r" b="b"/>
              <a:pathLst>
                <a:path w="1536065" h="92075">
                  <a:moveTo>
                    <a:pt x="1535976" y="0"/>
                  </a:moveTo>
                  <a:lnTo>
                    <a:pt x="0" y="0"/>
                  </a:lnTo>
                  <a:lnTo>
                    <a:pt x="0" y="91681"/>
                  </a:lnTo>
                  <a:lnTo>
                    <a:pt x="1535976" y="9168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35976" y="3364319"/>
              <a:ext cx="1536065" cy="92075"/>
            </a:xfrm>
            <a:custGeom>
              <a:avLst/>
              <a:gdLst/>
              <a:ahLst/>
              <a:cxnLst/>
              <a:rect l="l" t="t" r="r" b="b"/>
              <a:pathLst>
                <a:path w="1536064" h="92075">
                  <a:moveTo>
                    <a:pt x="1535976" y="0"/>
                  </a:moveTo>
                  <a:lnTo>
                    <a:pt x="0" y="0"/>
                  </a:lnTo>
                  <a:lnTo>
                    <a:pt x="0" y="91681"/>
                  </a:lnTo>
                  <a:lnTo>
                    <a:pt x="1535976" y="9168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71952" y="3364319"/>
              <a:ext cx="1536065" cy="92075"/>
            </a:xfrm>
            <a:custGeom>
              <a:avLst/>
              <a:gdLst/>
              <a:ahLst/>
              <a:cxnLst/>
              <a:rect l="l" t="t" r="r" b="b"/>
              <a:pathLst>
                <a:path w="1536064" h="92075">
                  <a:moveTo>
                    <a:pt x="1535976" y="0"/>
                  </a:moveTo>
                  <a:lnTo>
                    <a:pt x="0" y="0"/>
                  </a:lnTo>
                  <a:lnTo>
                    <a:pt x="0" y="91681"/>
                  </a:lnTo>
                  <a:lnTo>
                    <a:pt x="1535976" y="9168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Group</a:t>
            </a:r>
            <a:r>
              <a:rPr spc="55" dirty="0"/>
              <a:t> </a:t>
            </a:r>
            <a:r>
              <a:rPr dirty="0"/>
              <a:t>50</a:t>
            </a:r>
            <a:r>
              <a:rPr spc="290" dirty="0"/>
              <a:t> </a:t>
            </a:r>
            <a:r>
              <a:rPr spc="45" dirty="0"/>
              <a:t>(JSSATEB)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964435" y="3352906"/>
            <a:ext cx="679450" cy="111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00" dirty="0">
                <a:solidFill>
                  <a:srgbClr val="FFFFFF"/>
                </a:solidFill>
                <a:latin typeface="Verdana"/>
                <a:cs typeface="Verdana"/>
                <a:hlinkClick r:id="rId10" action="ppaction://hlinksldjump"/>
              </a:rPr>
              <a:t>Privacy</a:t>
            </a:r>
            <a:r>
              <a:rPr sz="500" spc="125" dirty="0">
                <a:solidFill>
                  <a:srgbClr val="FFFFFF"/>
                </a:solidFill>
                <a:latin typeface="Verdana"/>
                <a:cs typeface="Verdana"/>
                <a:hlinkClick r:id="rId10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Verdana"/>
                <a:cs typeface="Verdana"/>
                <a:hlinkClick r:id="rId10" action="ppaction://hlinksldjump"/>
              </a:rPr>
              <a:t>Masked</a:t>
            </a:r>
            <a:r>
              <a:rPr sz="500" spc="125" dirty="0">
                <a:solidFill>
                  <a:srgbClr val="FFFFFF"/>
                </a:solidFill>
                <a:latin typeface="Verdana"/>
                <a:cs typeface="Verdana"/>
                <a:hlinkClick r:id="rId10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Verdana"/>
                <a:cs typeface="Verdana"/>
                <a:hlinkClick r:id="rId10" action="ppaction://hlinksldjump"/>
              </a:rPr>
              <a:t>FL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May</a:t>
            </a:r>
            <a:r>
              <a:rPr spc="70" dirty="0"/>
              <a:t> </a:t>
            </a:r>
            <a:r>
              <a:rPr dirty="0"/>
              <a:t>8,</a:t>
            </a:r>
            <a:r>
              <a:rPr spc="75" dirty="0"/>
              <a:t> </a:t>
            </a:r>
            <a:r>
              <a:rPr spc="-20" dirty="0"/>
              <a:t>2026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dirty="0"/>
              <a:t>9</a:t>
            </a:fld>
            <a:r>
              <a:rPr spc="-65" dirty="0"/>
              <a:t> </a:t>
            </a:r>
            <a:r>
              <a:rPr spc="90" dirty="0"/>
              <a:t>/</a:t>
            </a:r>
            <a:r>
              <a:rPr spc="-6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80" dirty="0"/>
              <a:t>Conclusion</a:t>
            </a:r>
            <a:r>
              <a:rPr spc="-5" dirty="0"/>
              <a:t> </a:t>
            </a:r>
            <a:r>
              <a:rPr spc="90" dirty="0"/>
              <a:t>&amp;</a:t>
            </a:r>
            <a:r>
              <a:rPr dirty="0"/>
              <a:t> </a:t>
            </a:r>
            <a:r>
              <a:rPr spc="-35" dirty="0"/>
              <a:t>Future</a:t>
            </a:r>
            <a:r>
              <a:rPr dirty="0"/>
              <a:t> </a:t>
            </a:r>
            <a:r>
              <a:rPr spc="-20" dirty="0"/>
              <a:t>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6717" y="963396"/>
            <a:ext cx="59588" cy="595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6877" y="886287"/>
            <a:ext cx="4090670" cy="519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b="1" spc="-30" dirty="0">
                <a:latin typeface="Arial"/>
                <a:cs typeface="Arial"/>
              </a:rPr>
              <a:t>Summary</a:t>
            </a:r>
            <a:r>
              <a:rPr sz="1000" spc="-30" dirty="0">
                <a:latin typeface="Arial MT"/>
                <a:cs typeface="Arial MT"/>
              </a:rPr>
              <a:t>:</a:t>
            </a:r>
            <a:r>
              <a:rPr sz="1000" spc="9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Successfully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integrated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50" dirty="0">
                <a:latin typeface="Arial MT"/>
                <a:cs typeface="Arial MT"/>
              </a:rPr>
              <a:t>Federated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Learning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with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Privacy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Masking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</a:t>
            </a:r>
            <a:r>
              <a:rPr sz="1000" spc="15" dirty="0">
                <a:latin typeface="Arial MT"/>
                <a:cs typeface="Arial MT"/>
              </a:rPr>
              <a:t> </a:t>
            </a:r>
            <a:r>
              <a:rPr sz="1000" spc="-75" dirty="0">
                <a:latin typeface="Arial MT"/>
                <a:cs typeface="Arial MT"/>
              </a:rPr>
              <a:t>secure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cardiac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diagnostic</a:t>
            </a:r>
            <a:r>
              <a:rPr sz="1000" spc="1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system.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000" b="1" dirty="0">
                <a:latin typeface="Arial"/>
                <a:cs typeface="Arial"/>
              </a:rPr>
              <a:t>Impact</a:t>
            </a:r>
            <a:r>
              <a:rPr sz="1000" dirty="0">
                <a:latin typeface="Arial MT"/>
                <a:cs typeface="Arial MT"/>
              </a:rPr>
              <a:t>:</a:t>
            </a:r>
            <a:r>
              <a:rPr sz="1000" spc="95" dirty="0">
                <a:latin typeface="Arial MT"/>
                <a:cs typeface="Arial MT"/>
              </a:rPr>
              <a:t> </a:t>
            </a:r>
            <a:r>
              <a:rPr sz="1000" spc="-70" dirty="0">
                <a:latin typeface="Arial MT"/>
                <a:cs typeface="Arial MT"/>
              </a:rPr>
              <a:t>Addresses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critical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60" dirty="0">
                <a:latin typeface="Arial MT"/>
                <a:cs typeface="Arial MT"/>
              </a:rPr>
              <a:t>gaps</a:t>
            </a:r>
            <a:r>
              <a:rPr sz="1000" dirty="0">
                <a:latin typeface="Arial MT"/>
                <a:cs typeface="Arial MT"/>
              </a:rPr>
              <a:t> in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healthcare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AI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privacy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and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explainability.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717" y="1305014"/>
            <a:ext cx="59588" cy="5958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6717" y="2134539"/>
            <a:ext cx="59588" cy="5958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6717" y="2324328"/>
            <a:ext cx="59588" cy="5958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6717" y="2514117"/>
            <a:ext cx="59588" cy="5958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3830" y="1829682"/>
            <a:ext cx="3497579" cy="78486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b="1" spc="-10" dirty="0">
                <a:latin typeface="Arial"/>
                <a:cs typeface="Arial"/>
              </a:rPr>
              <a:t>Future</a:t>
            </a:r>
            <a:r>
              <a:rPr sz="1000" b="1" dirty="0">
                <a:latin typeface="Arial"/>
                <a:cs typeface="Arial"/>
              </a:rPr>
              <a:t> </a:t>
            </a:r>
            <a:r>
              <a:rPr sz="1000" b="1" spc="-10" dirty="0">
                <a:latin typeface="Arial"/>
                <a:cs typeface="Arial"/>
              </a:rPr>
              <a:t>Enhancements</a:t>
            </a:r>
            <a:r>
              <a:rPr sz="1000" spc="-10" dirty="0">
                <a:latin typeface="Arial MT"/>
                <a:cs typeface="Arial MT"/>
              </a:rPr>
              <a:t>:</a:t>
            </a:r>
            <a:endParaRPr sz="1000">
              <a:latin typeface="Arial MT"/>
              <a:cs typeface="Arial MT"/>
            </a:endParaRPr>
          </a:p>
          <a:p>
            <a:pPr marL="265430" marR="836930">
              <a:lnSpc>
                <a:spcPct val="124500"/>
              </a:lnSpc>
            </a:pPr>
            <a:r>
              <a:rPr sz="1000" spc="-45" dirty="0">
                <a:latin typeface="Arial MT"/>
                <a:cs typeface="Arial MT"/>
              </a:rPr>
              <a:t>Real-</a:t>
            </a:r>
            <a:r>
              <a:rPr sz="1000" spc="-20" dirty="0">
                <a:latin typeface="Arial MT"/>
                <a:cs typeface="Arial MT"/>
              </a:rPr>
              <a:t>time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55" dirty="0">
                <a:latin typeface="Arial MT"/>
                <a:cs typeface="Arial MT"/>
              </a:rPr>
              <a:t>wearable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device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integration. </a:t>
            </a:r>
            <a:r>
              <a:rPr sz="1000" spc="-50" dirty="0">
                <a:latin typeface="Arial MT"/>
                <a:cs typeface="Arial MT"/>
              </a:rPr>
              <a:t>Blockchain-based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security</a:t>
            </a:r>
            <a:r>
              <a:rPr sz="1000" dirty="0">
                <a:latin typeface="Arial MT"/>
                <a:cs typeface="Arial MT"/>
              </a:rPr>
              <a:t> for</a:t>
            </a:r>
            <a:r>
              <a:rPr sz="1000" spc="5" dirty="0">
                <a:latin typeface="Arial MT"/>
                <a:cs typeface="Arial MT"/>
              </a:rPr>
              <a:t> </a:t>
            </a:r>
            <a:r>
              <a:rPr sz="1000" spc="-30" dirty="0">
                <a:latin typeface="Arial MT"/>
                <a:cs typeface="Arial MT"/>
              </a:rPr>
              <a:t>model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updates.</a:t>
            </a:r>
            <a:endParaRPr sz="10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295"/>
              </a:spcBef>
            </a:pPr>
            <a:r>
              <a:rPr sz="1000" spc="-60" dirty="0">
                <a:latin typeface="Arial MT"/>
                <a:cs typeface="Arial MT"/>
              </a:rPr>
              <a:t>Advanced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Homomorphic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Encryption</a:t>
            </a:r>
            <a:r>
              <a:rPr sz="1000" spc="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ultra-</a:t>
            </a:r>
            <a:r>
              <a:rPr sz="1000" spc="-35" dirty="0">
                <a:latin typeface="Arial MT"/>
                <a:cs typeface="Arial MT"/>
              </a:rPr>
              <a:t>secure</a:t>
            </a:r>
            <a:r>
              <a:rPr sz="1000" spc="2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training.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64319"/>
            <a:ext cx="4608195" cy="92075"/>
            <a:chOff x="0" y="3364319"/>
            <a:chExt cx="4608195" cy="92075"/>
          </a:xfrm>
        </p:grpSpPr>
        <p:sp>
          <p:nvSpPr>
            <p:cNvPr id="11" name="object 11"/>
            <p:cNvSpPr/>
            <p:nvPr/>
          </p:nvSpPr>
          <p:spPr>
            <a:xfrm>
              <a:off x="0" y="3364319"/>
              <a:ext cx="1536065" cy="92075"/>
            </a:xfrm>
            <a:custGeom>
              <a:avLst/>
              <a:gdLst/>
              <a:ahLst/>
              <a:cxnLst/>
              <a:rect l="l" t="t" r="r" b="b"/>
              <a:pathLst>
                <a:path w="1536065" h="92075">
                  <a:moveTo>
                    <a:pt x="1535976" y="0"/>
                  </a:moveTo>
                  <a:lnTo>
                    <a:pt x="0" y="0"/>
                  </a:lnTo>
                  <a:lnTo>
                    <a:pt x="0" y="91681"/>
                  </a:lnTo>
                  <a:lnTo>
                    <a:pt x="1535976" y="9168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35976" y="3364319"/>
              <a:ext cx="1536065" cy="92075"/>
            </a:xfrm>
            <a:custGeom>
              <a:avLst/>
              <a:gdLst/>
              <a:ahLst/>
              <a:cxnLst/>
              <a:rect l="l" t="t" r="r" b="b"/>
              <a:pathLst>
                <a:path w="1536064" h="92075">
                  <a:moveTo>
                    <a:pt x="1535976" y="0"/>
                  </a:moveTo>
                  <a:lnTo>
                    <a:pt x="0" y="0"/>
                  </a:lnTo>
                  <a:lnTo>
                    <a:pt x="0" y="91681"/>
                  </a:lnTo>
                  <a:lnTo>
                    <a:pt x="1535976" y="9168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71952" y="3364319"/>
              <a:ext cx="1536065" cy="92075"/>
            </a:xfrm>
            <a:custGeom>
              <a:avLst/>
              <a:gdLst/>
              <a:ahLst/>
              <a:cxnLst/>
              <a:rect l="l" t="t" r="r" b="b"/>
              <a:pathLst>
                <a:path w="1536064" h="92075">
                  <a:moveTo>
                    <a:pt x="1535976" y="0"/>
                  </a:moveTo>
                  <a:lnTo>
                    <a:pt x="0" y="0"/>
                  </a:lnTo>
                  <a:lnTo>
                    <a:pt x="0" y="91681"/>
                  </a:lnTo>
                  <a:lnTo>
                    <a:pt x="1535976" y="9168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Group</a:t>
            </a:r>
            <a:r>
              <a:rPr spc="55" dirty="0"/>
              <a:t> </a:t>
            </a:r>
            <a:r>
              <a:rPr dirty="0"/>
              <a:t>50</a:t>
            </a:r>
            <a:r>
              <a:rPr spc="290" dirty="0"/>
              <a:t> </a:t>
            </a:r>
            <a:r>
              <a:rPr spc="45" dirty="0"/>
              <a:t>(JSSATEB)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964435" y="3352906"/>
            <a:ext cx="679450" cy="111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00" dirty="0">
                <a:solidFill>
                  <a:srgbClr val="FFFFFF"/>
                </a:solidFill>
                <a:latin typeface="Verdana"/>
                <a:cs typeface="Verdana"/>
                <a:hlinkClick r:id="rId7" action="ppaction://hlinksldjump"/>
              </a:rPr>
              <a:t>Privacy</a:t>
            </a:r>
            <a:r>
              <a:rPr sz="500" spc="125" dirty="0">
                <a:solidFill>
                  <a:srgbClr val="FFFFFF"/>
                </a:solidFill>
                <a:latin typeface="Verdana"/>
                <a:cs typeface="Verdana"/>
                <a:hlinkClick r:id="rId7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Verdana"/>
                <a:cs typeface="Verdana"/>
                <a:hlinkClick r:id="rId7" action="ppaction://hlinksldjump"/>
              </a:rPr>
              <a:t>Masked</a:t>
            </a:r>
            <a:r>
              <a:rPr sz="500" spc="125" dirty="0">
                <a:solidFill>
                  <a:srgbClr val="FFFFFF"/>
                </a:solidFill>
                <a:latin typeface="Verdana"/>
                <a:cs typeface="Verdana"/>
                <a:hlinkClick r:id="rId7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Verdana"/>
                <a:cs typeface="Verdana"/>
                <a:hlinkClick r:id="rId7" action="ppaction://hlinksldjump"/>
              </a:rPr>
              <a:t>FL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May</a:t>
            </a:r>
            <a:r>
              <a:rPr spc="70" dirty="0"/>
              <a:t> </a:t>
            </a:r>
            <a:r>
              <a:rPr dirty="0"/>
              <a:t>8,</a:t>
            </a:r>
            <a:r>
              <a:rPr spc="75" dirty="0"/>
              <a:t> </a:t>
            </a:r>
            <a:r>
              <a:rPr spc="-20" dirty="0"/>
              <a:t>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dirty="0"/>
              <a:t>10</a:t>
            </a:fld>
            <a:r>
              <a:rPr spc="-65" dirty="0"/>
              <a:t> </a:t>
            </a:r>
            <a:r>
              <a:rPr spc="90" dirty="0"/>
              <a:t>/</a:t>
            </a:r>
            <a:r>
              <a:rPr spc="-6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72120" y="1081734"/>
            <a:ext cx="1864360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spc="130" dirty="0">
                <a:solidFill>
                  <a:srgbClr val="000000"/>
                </a:solidFill>
                <a:latin typeface="Arial"/>
                <a:cs typeface="Arial"/>
              </a:rPr>
              <a:t>Thank</a:t>
            </a:r>
            <a:r>
              <a:rPr sz="2450" b="1" spc="29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50" b="1" spc="-20" dirty="0">
                <a:solidFill>
                  <a:srgbClr val="000000"/>
                </a:solidFill>
                <a:latin typeface="Arial"/>
                <a:cs typeface="Arial"/>
              </a:rPr>
              <a:t>You!</a:t>
            </a:r>
            <a:endParaRPr sz="245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Group</a:t>
            </a:r>
            <a:r>
              <a:rPr spc="55" dirty="0"/>
              <a:t> </a:t>
            </a:r>
            <a:r>
              <a:rPr dirty="0"/>
              <a:t>50</a:t>
            </a:r>
            <a:r>
              <a:rPr spc="290" dirty="0"/>
              <a:t> </a:t>
            </a:r>
            <a:r>
              <a:rPr spc="45" dirty="0"/>
              <a:t>(JSSATEB)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64435" y="3352906"/>
            <a:ext cx="679450" cy="111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500" dirty="0">
                <a:solidFill>
                  <a:srgbClr val="FFFFFF"/>
                </a:solidFill>
                <a:latin typeface="Verdana"/>
                <a:cs typeface="Verdana"/>
                <a:hlinkClick r:id="rId2" action="ppaction://hlinksldjump"/>
              </a:rPr>
              <a:t>Privacy</a:t>
            </a:r>
            <a:r>
              <a:rPr sz="500" spc="125" dirty="0">
                <a:solidFill>
                  <a:srgbClr val="FFFFFF"/>
                </a:solidFill>
                <a:latin typeface="Verdana"/>
                <a:cs typeface="Verdana"/>
                <a:hlinkClick r:id="rId2" action="ppaction://hlinksldjump"/>
              </a:rPr>
              <a:t> </a:t>
            </a:r>
            <a:r>
              <a:rPr sz="500" dirty="0">
                <a:solidFill>
                  <a:srgbClr val="FFFFFF"/>
                </a:solidFill>
                <a:latin typeface="Verdana"/>
                <a:cs typeface="Verdana"/>
                <a:hlinkClick r:id="rId2" action="ppaction://hlinksldjump"/>
              </a:rPr>
              <a:t>Masked</a:t>
            </a:r>
            <a:r>
              <a:rPr sz="500" spc="125" dirty="0">
                <a:solidFill>
                  <a:srgbClr val="FFFFFF"/>
                </a:solidFill>
                <a:latin typeface="Verdana"/>
                <a:cs typeface="Verdana"/>
                <a:hlinkClick r:id="rId2" action="ppaction://hlinksldjump"/>
              </a:rPr>
              <a:t> </a:t>
            </a:r>
            <a:r>
              <a:rPr sz="500" spc="70" dirty="0">
                <a:solidFill>
                  <a:srgbClr val="FFFFFF"/>
                </a:solidFill>
                <a:latin typeface="Verdana"/>
                <a:cs typeface="Verdana"/>
                <a:hlinkClick r:id="rId2" action="ppaction://hlinksldjump"/>
              </a:rPr>
              <a:t>FL</a:t>
            </a:r>
            <a:endParaRPr sz="5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May</a:t>
            </a:r>
            <a:r>
              <a:rPr spc="70" dirty="0"/>
              <a:t> </a:t>
            </a:r>
            <a:r>
              <a:rPr dirty="0"/>
              <a:t>8,</a:t>
            </a:r>
            <a:r>
              <a:rPr spc="75" dirty="0"/>
              <a:t> </a:t>
            </a:r>
            <a:r>
              <a:rPr spc="-20" dirty="0"/>
              <a:t>2026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fld id="{81D60167-4931-47E6-BA6A-407CBD079E47}" type="slidenum">
              <a:rPr dirty="0"/>
              <a:t>11</a:t>
            </a:fld>
            <a:r>
              <a:rPr spc="-65" dirty="0"/>
              <a:t> </a:t>
            </a:r>
            <a:r>
              <a:rPr spc="90" dirty="0"/>
              <a:t>/</a:t>
            </a:r>
            <a:r>
              <a:rPr spc="-65" dirty="0"/>
              <a:t> </a:t>
            </a:r>
            <a:r>
              <a:rPr spc="-25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735</Words>
  <Application>Microsoft Office PowerPoint</Application>
  <PresentationFormat>Custom</PresentationFormat>
  <Paragraphs>108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MT</vt:lpstr>
      <vt:lpstr>Times New Roman</vt:lpstr>
      <vt:lpstr>Verdana</vt:lpstr>
      <vt:lpstr>Office Theme</vt:lpstr>
      <vt:lpstr>PowerPoint Presentation</vt:lpstr>
      <vt:lpstr>Problem Overview</vt:lpstr>
      <vt:lpstr>Proposed Solution</vt:lpstr>
      <vt:lpstr>Project Objectives</vt:lpstr>
      <vt:lpstr>Literature Survey &amp; Gaps</vt:lpstr>
      <vt:lpstr>Proposed Methodology</vt:lpstr>
      <vt:lpstr>System Architecture</vt:lpstr>
      <vt:lpstr>PowerPoint Presentation</vt:lpstr>
      <vt:lpstr>Technologies &amp; Tools</vt:lpstr>
      <vt:lpstr>Conclusion &amp; Future Work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Privacy Masked Federated Learning for Heart Disease Diagnosis - Major Project Phase - I (Group ID: 50)</dc:title>
  <dc:creator> ABHISHEK R (1JS23CS004) ,  CHETAN KISHOR C G (1JS23CS032) ,  HONGIRAN D (1JS23CS062) ,  THIRUMANGAI S (1JS23CS180) </dc:creator>
  <cp:lastModifiedBy>Abhishek R</cp:lastModifiedBy>
  <cp:revision>1</cp:revision>
  <dcterms:created xsi:type="dcterms:W3CDTF">2026-05-08T13:50:59Z</dcterms:created>
  <dcterms:modified xsi:type="dcterms:W3CDTF">2026-05-09T03:05:33Z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2026-05-08T00:00:00Z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2026-05-08T00:00:00Z</vt:filetime>
  </property>
  <property fmtid="{D5CDD505-2E9C-101B-9397-08002B2CF9AE}" pid="6" name="PTEX.Fullbanner">
    <vt:lpwstr>This is pdfTeX, Version 3.141592653-2.6-1.40.25 (TeX Live 2023) kpathsea version 6.3.5</vt:lpwstr>
  </property>
  <property fmtid="{D5CDD505-2E9C-101B-9397-08002B2CF9AE}" pid="7" name="Producer">
    <vt:lpwstr>pdfTeX-1.40.25</vt:lpwstr>
  </property>
</Properties>
</file>